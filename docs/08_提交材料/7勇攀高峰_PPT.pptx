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231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" y="292608"/>
            <a:ext cx="91440" cy="329184"/>
          </a:xfrm>
          <a:prstGeom prst="rect">
            <a:avLst/>
          </a:prstGeom>
          <a:solidFill>
            <a:srgbClr val="13A6A0"/>
          </a:solidFill>
          <a:ln w="1270">
            <a:solidFill>
              <a:srgbClr val="13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3A6A0"/>
                </a:solidFill>
                <a:latin typeface="Noto Sans CJK SC"/>
              </a:rPr>
              <a:t>01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42B45"/>
                </a:solidFill>
                <a:latin typeface="Noto Sans CJK SC"/>
              </a:rPr>
              <a:t>整体架构｜一个持续的 EffGen 循环，连接两类网页环境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1513"/>
            <a:ext cx="109728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决策与执行分工：EffGen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 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负责规划决策；程序负责协议约束、网页执行、事实保存与证据校验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09960" cy="0"/>
          </a:xfrm>
          <a:prstGeom prst="line">
            <a:avLst/>
          </a:prstGeom>
          <a:ln w="10160">
            <a:solidFill>
              <a:srgbClr val="D8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40412"/>
            <a:ext cx="621792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dirty="0">
                <a:solidFill>
                  <a:srgbClr val="5F7184"/>
                </a:solidFill>
                <a:latin typeface="Noto Sans CJK SC"/>
              </a:rPr>
              <a:t>WEB AGENT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01384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F7184"/>
                </a:solidFill>
                <a:latin typeface="Noto Sans CJK SC"/>
              </a:rPr>
              <a:t>01 /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1444752" cy="1024128"/>
          </a:xfrm>
          <a:prstGeom prst="roundRect">
            <a:avLst>
              <a:gd name="adj" fmla="val 12000"/>
            </a:avLst>
          </a:prstGeom>
          <a:solidFill>
            <a:srgbClr val="EAF2F8"/>
          </a:solidFill>
          <a:ln w="12700">
            <a:solidFill>
              <a:srgbClr val="BB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194767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42B45"/>
                </a:solidFill>
                <a:latin typeface="Noto Sans CJK SC"/>
              </a:rPr>
              <a:t>自然语言任务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28600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F7184"/>
                </a:solidFill>
                <a:latin typeface="Noto Sans CJK SC"/>
              </a:rPr>
              <a:t>目标与约束
原始任务文本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66543" y="2340864"/>
            <a:ext cx="347473" cy="0"/>
          </a:xfrm>
          <a:prstGeom prst="line">
            <a:avLst/>
          </a:prstGeom>
          <a:ln w="25400">
            <a:solidFill>
              <a:srgbClr val="13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68880" y="1673352"/>
            <a:ext cx="2139696" cy="1335024"/>
          </a:xfrm>
          <a:prstGeom prst="roundRect">
            <a:avLst>
              <a:gd name="adj" fmla="val 12000"/>
            </a:avLst>
          </a:prstGeom>
          <a:solidFill>
            <a:srgbClr val="142B45"/>
          </a:solidFill>
          <a:ln w="12700">
            <a:solidFill>
              <a:srgbClr val="14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1760" y="1810512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Noto Sans CJK SC"/>
              </a:rPr>
              <a:t>EffGen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4" y="2167128"/>
            <a:ext cx="17556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DCE8F2"/>
                </a:solidFill>
                <a:latin typeface="Noto Sans CJK SC"/>
              </a:rPr>
              <a:t>规划与推理
工具选择 · 计划调整
同一生成器持续运行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63440" y="2340864"/>
            <a:ext cx="329184" cy="0"/>
          </a:xfrm>
          <a:prstGeom prst="line">
            <a:avLst/>
          </a:prstGeom>
          <a:ln w="25400">
            <a:solidFill>
              <a:srgbClr val="13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65776" y="1673352"/>
            <a:ext cx="2103120" cy="1335024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 w="12700">
            <a:solidFill>
              <a:srgbClr val="9BC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9512" y="180136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42B45"/>
                </a:solidFill>
                <a:latin typeface="Noto Sans CJK SC"/>
              </a:rPr>
              <a:t>统一网页工具协议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2157984"/>
            <a:ext cx="173736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 i="0">
                <a:solidFill>
                  <a:srgbClr val="5F7184"/>
                </a:solidFill>
                <a:latin typeface="Noto Sans CJK SC"/>
              </a:rPr>
              <a:t>Observe · Action · Feedback
当前观察编号绑定
一次交出一个网页动作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14616" y="2340864"/>
            <a:ext cx="329184" cy="0"/>
          </a:xfrm>
          <a:prstGeom prst="line">
            <a:avLst/>
          </a:prstGeom>
          <a:ln w="22860">
            <a:solidFill>
              <a:srgbClr val="13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543800" y="1901952"/>
            <a:ext cx="0" cy="438912"/>
          </a:xfrm>
          <a:prstGeom prst="line">
            <a:avLst/>
          </a:prstGeom>
          <a:ln w="20320">
            <a:solidFill>
              <a:srgbClr val="13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3800" y="2340864"/>
            <a:ext cx="0" cy="420624"/>
          </a:xfrm>
          <a:prstGeom prst="line">
            <a:avLst/>
          </a:prstGeom>
          <a:ln w="20320">
            <a:solidFill>
              <a:srgbClr val="13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543800" y="1901952"/>
            <a:ext cx="228600" cy="0"/>
          </a:xfrm>
          <a:prstGeom prst="line">
            <a:avLst/>
          </a:prstGeom>
          <a:ln w="22860">
            <a:solidFill>
              <a:srgbClr val="13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43800" y="2761488"/>
            <a:ext cx="228600" cy="0"/>
          </a:xfrm>
          <a:prstGeom prst="line">
            <a:avLst/>
          </a:prstGeom>
          <a:ln w="22860">
            <a:solidFill>
              <a:srgbClr val="13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827264" y="1499616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EAF2F8"/>
          </a:solidFill>
          <a:ln w="12700">
            <a:solidFill>
              <a:srgbClr val="BB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79" y="1609344"/>
            <a:ext cx="161848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4779AD"/>
                </a:solidFill>
                <a:latin typeface="Noto Sans CJK SC"/>
              </a:rPr>
              <a:t>官方平台适配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6136" y="1892807"/>
            <a:ext cx="163677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F7184"/>
                </a:solidFill>
                <a:latin typeface="Noto Sans CJK SC"/>
              </a:rPr>
              <a:t>单动作 / 单任务协议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27264" y="2432304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BF4E9"/>
          </a:solidFill>
          <a:ln w="12700">
            <a:solidFill>
              <a:srgbClr val="E8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5279" y="2542032"/>
            <a:ext cx="161848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99A36"/>
                </a:solidFill>
                <a:latin typeface="Noto Sans CJK SC"/>
              </a:rPr>
              <a:t>真实浏览器适配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46136" y="2825496"/>
            <a:ext cx="163677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F7184"/>
                </a:solidFill>
                <a:latin typeface="Noto Sans CJK SC"/>
              </a:rPr>
              <a:t>Playwright / 多页面执行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65792" y="1901952"/>
            <a:ext cx="338328" cy="0"/>
          </a:xfrm>
          <a:prstGeom prst="line">
            <a:avLst/>
          </a:prstGeom>
          <a:ln w="22860">
            <a:solidFill>
              <a:srgbClr val="3F9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765792" y="2834640"/>
            <a:ext cx="338328" cy="0"/>
          </a:xfrm>
          <a:prstGeom prst="line">
            <a:avLst/>
          </a:prstGeom>
          <a:ln w="22860">
            <a:solidFill>
              <a:srgbClr val="3F9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158984" y="1673352"/>
            <a:ext cx="1444752" cy="1335024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 w="12700">
            <a:solidFill>
              <a:srgbClr val="BC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68712" y="1810512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42B45"/>
                </a:solidFill>
                <a:latin typeface="Noto Sans CJK SC"/>
              </a:rPr>
              <a:t>新观察反馈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68712" y="2176272"/>
            <a:ext cx="122529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F7184"/>
                </a:solidFill>
                <a:latin typeface="Noto Sans CJK SC"/>
              </a:rPr>
              <a:t>页面状态
动作反馈
回到同一循环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881360" y="3090672"/>
            <a:ext cx="0" cy="420624"/>
          </a:xfrm>
          <a:prstGeom prst="line">
            <a:avLst/>
          </a:prstGeom>
          <a:ln w="16510">
            <a:solidFill>
              <a:srgbClr val="3F9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3547872" y="3511296"/>
            <a:ext cx="7333488" cy="0"/>
          </a:xfrm>
          <a:prstGeom prst="line">
            <a:avLst/>
          </a:prstGeom>
          <a:ln w="16510">
            <a:solidFill>
              <a:srgbClr val="3F9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547872" y="3054096"/>
            <a:ext cx="0" cy="457200"/>
          </a:xfrm>
          <a:prstGeom prst="line">
            <a:avLst/>
          </a:prstGeom>
          <a:ln w="20320">
            <a:solidFill>
              <a:srgbClr val="3F9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86400" y="3304886"/>
            <a:ext cx="356616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 dirty="0" err="1">
                <a:solidFill>
                  <a:srgbClr val="3F99C9"/>
                </a:solidFill>
                <a:latin typeface="Noto Sans CJK SC"/>
              </a:rPr>
              <a:t>动作交出</a:t>
            </a:r>
            <a:r>
              <a:rPr sz="900" b="1" i="0" dirty="0">
                <a:solidFill>
                  <a:srgbClr val="3F99C9"/>
                </a:solidFill>
                <a:latin typeface="Noto Sans CJK SC"/>
              </a:rPr>
              <a:t> → </a:t>
            </a:r>
            <a:r>
              <a:rPr sz="900" b="1" i="0" dirty="0" err="1">
                <a:solidFill>
                  <a:srgbClr val="3F99C9"/>
                </a:solidFill>
                <a:latin typeface="Noto Sans CJK SC"/>
              </a:rPr>
              <a:t>环境执行</a:t>
            </a:r>
            <a:r>
              <a:rPr sz="900" b="1" i="0" dirty="0">
                <a:solidFill>
                  <a:srgbClr val="3F99C9"/>
                </a:solidFill>
                <a:latin typeface="Noto Sans CJK SC"/>
              </a:rPr>
              <a:t> → </a:t>
            </a:r>
            <a:r>
              <a:rPr sz="900" b="1" i="0" dirty="0" err="1">
                <a:solidFill>
                  <a:srgbClr val="3F99C9"/>
                </a:solidFill>
                <a:latin typeface="Noto Sans CJK SC"/>
              </a:rPr>
              <a:t>新观察回传</a:t>
            </a:r>
            <a:r>
              <a:rPr sz="900" b="1" i="0" dirty="0">
                <a:solidFill>
                  <a:srgbClr val="3F99C9"/>
                </a:solidFill>
                <a:latin typeface="Noto Sans CJK SC"/>
              </a:rPr>
              <a:t> → </a:t>
            </a:r>
            <a:r>
              <a:rPr sz="900" b="1" i="0" dirty="0" err="1">
                <a:solidFill>
                  <a:srgbClr val="3F99C9"/>
                </a:solidFill>
                <a:latin typeface="Noto Sans CJK SC"/>
              </a:rPr>
              <a:t>同一</a:t>
            </a:r>
            <a:r>
              <a:rPr sz="900" b="1" i="0" dirty="0">
                <a:solidFill>
                  <a:srgbClr val="3F99C9"/>
                </a:solidFill>
                <a:latin typeface="Noto Sans CJK SC"/>
              </a:rPr>
              <a:t> Agent </a:t>
            </a:r>
            <a:r>
              <a:rPr sz="900" b="1" i="0" dirty="0" err="1">
                <a:solidFill>
                  <a:srgbClr val="3F99C9"/>
                </a:solidFill>
                <a:latin typeface="Noto Sans CJK SC"/>
              </a:rPr>
              <a:t>继续</a:t>
            </a:r>
            <a:endParaRPr sz="900" b="1" i="0" dirty="0">
              <a:solidFill>
                <a:srgbClr val="3F99C9"/>
              </a:solidFill>
              <a:latin typeface="Noto Sans CJK SC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94360" y="3697854"/>
            <a:ext cx="36576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 err="1">
                <a:solidFill>
                  <a:srgbClr val="142B45"/>
                </a:solidFill>
                <a:latin typeface="Noto Sans CJK SC"/>
              </a:rPr>
              <a:t>共享运行内核：跨步骤保留事实、证据与预算</a:t>
            </a:r>
            <a:endParaRPr sz="1200" b="1" i="0" dirty="0">
              <a:solidFill>
                <a:srgbClr val="142B45"/>
              </a:solidFill>
              <a:latin typeface="Noto Sans CJK SC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66928" y="3977639"/>
            <a:ext cx="3566160" cy="1188720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 w="10160"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66928" y="3977639"/>
            <a:ext cx="64008" cy="1188720"/>
          </a:xfrm>
          <a:prstGeom prst="rect">
            <a:avLst/>
          </a:prstGeom>
          <a:solidFill>
            <a:srgbClr val="13A6A0"/>
          </a:solidFill>
          <a:ln w="1270">
            <a:solidFill>
              <a:srgbClr val="13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4220376"/>
            <a:ext cx="331012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 err="1">
                <a:solidFill>
                  <a:srgbClr val="142B45"/>
                </a:solidFill>
                <a:latin typeface="Noto Sans CJK SC"/>
              </a:rPr>
              <a:t>TaskState｜任务账本</a:t>
            </a:r>
            <a:endParaRPr sz="1200" b="1" i="0" dirty="0">
              <a:solidFill>
                <a:srgbClr val="142B45"/>
              </a:solidFill>
              <a:latin typeface="Noto Sans CJK SC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31520" y="4592916"/>
            <a:ext cx="3291840" cy="3659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>
                <a:solidFill>
                  <a:srgbClr val="5F7184"/>
                </a:solidFill>
                <a:latin typeface="Noto Sans CJK SC"/>
              </a:rPr>
              <a:t>Goals / Facts / Plan / Pending Effects
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区分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 observed 与 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inferred，记录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 revision 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与依赖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15968" y="3977639"/>
            <a:ext cx="3566160" cy="1188720"/>
          </a:xfrm>
          <a:prstGeom prst="roundRect">
            <a:avLst>
              <a:gd name="adj" fmla="val 12000"/>
            </a:avLst>
          </a:prstGeom>
          <a:solidFill>
            <a:srgbClr val="EAF2F8"/>
          </a:solidFill>
          <a:ln w="10160"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315968" y="3977639"/>
            <a:ext cx="64008" cy="1188720"/>
          </a:xfrm>
          <a:prstGeom prst="rect">
            <a:avLst/>
          </a:prstGeom>
          <a:solidFill>
            <a:srgbClr val="3F99C9"/>
          </a:solidFill>
          <a:ln w="1270">
            <a:solidFill>
              <a:srgbClr val="3F9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80559" y="4220376"/>
            <a:ext cx="331012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 err="1">
                <a:solidFill>
                  <a:srgbClr val="142B45"/>
                </a:solidFill>
                <a:latin typeface="Noto Sans CJK SC"/>
              </a:rPr>
              <a:t>EvidenceStore｜证据存储</a:t>
            </a:r>
            <a:endParaRPr sz="1200" b="1" i="0" dirty="0">
              <a:solidFill>
                <a:srgbClr val="142B45"/>
              </a:solidFill>
              <a:latin typeface="Noto Sans CJK SC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480559" y="4592916"/>
            <a:ext cx="3291840" cy="3659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截图、HTML、DOM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 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与观察引用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
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文件哈希、字节数、run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 / branch 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归属校验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65008" y="3977639"/>
            <a:ext cx="3547872" cy="1188720"/>
          </a:xfrm>
          <a:prstGeom prst="roundRect">
            <a:avLst>
              <a:gd name="adj" fmla="val 12000"/>
            </a:avLst>
          </a:prstGeom>
          <a:solidFill>
            <a:srgbClr val="FBF4E9"/>
          </a:solidFill>
          <a:ln w="10160"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065008" y="3977639"/>
            <a:ext cx="64008" cy="1188720"/>
          </a:xfrm>
          <a:prstGeom prst="rect">
            <a:avLst/>
          </a:prstGeom>
          <a:solidFill>
            <a:srgbClr val="D99A36"/>
          </a:solidFill>
          <a:ln w="1270">
            <a:solidFill>
              <a:srgbClr val="D99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29600" y="4220376"/>
            <a:ext cx="3291839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B45"/>
                </a:solidFill>
                <a:latin typeface="Noto Sans CJK SC"/>
              </a:rPr>
              <a:t>Events &amp; </a:t>
            </a:r>
            <a:r>
              <a:rPr sz="1200" b="1" i="0" dirty="0" err="1">
                <a:solidFill>
                  <a:srgbClr val="142B45"/>
                </a:solidFill>
                <a:latin typeface="Noto Sans CJK SC"/>
              </a:rPr>
              <a:t>Budget｜运行治理</a:t>
            </a:r>
            <a:endParaRPr sz="1200" b="1" i="0" dirty="0">
              <a:solidFill>
                <a:srgbClr val="142B45"/>
              </a:solidFill>
              <a:latin typeface="Noto Sans CJK SC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29600" y="4587661"/>
            <a:ext cx="3273552" cy="3659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动作与模型调用日志、deadline、上下文预算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
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只记录平台真实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 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usage；未知费用不估作实值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5413248"/>
            <a:ext cx="11045952" cy="658368"/>
          </a:xfrm>
          <a:prstGeom prst="roundRect">
            <a:avLst>
              <a:gd name="adj" fmla="val 12000"/>
            </a:avLst>
          </a:prstGeom>
          <a:solidFill>
            <a:srgbClr val="142B45"/>
          </a:solidFill>
          <a:ln w="10160">
            <a:solidFill>
              <a:srgbClr val="14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8" y="5531227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 err="1">
                <a:solidFill>
                  <a:srgbClr val="9CDCD6"/>
                </a:solidFill>
                <a:latin typeface="Noto Sans CJK SC"/>
              </a:rPr>
              <a:t>实现状态边界</a:t>
            </a:r>
            <a:endParaRPr sz="1200" b="1" i="0" dirty="0">
              <a:solidFill>
                <a:srgbClr val="9CDCD6"/>
              </a:solidFill>
              <a:latin typeface="Noto Sans CJK SC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523744" y="5650518"/>
            <a:ext cx="884224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 err="1">
                <a:solidFill>
                  <a:srgbClr val="FFFFFF"/>
                </a:solidFill>
                <a:latin typeface="Noto Sans CJK SC"/>
              </a:rPr>
              <a:t>阶段一：双环境基础已跑通</a:t>
            </a:r>
            <a:r>
              <a:rPr sz="1200" b="0" i="0" dirty="0">
                <a:solidFill>
                  <a:srgbClr val="FFFFFF"/>
                </a:solidFill>
                <a:latin typeface="Noto Sans CJK SC"/>
              </a:rPr>
              <a:t>   ·   </a:t>
            </a:r>
            <a:r>
              <a:rPr sz="1200" b="0" i="0" dirty="0" err="1">
                <a:solidFill>
                  <a:srgbClr val="FFFFFF"/>
                </a:solidFill>
                <a:latin typeface="Noto Sans CJK SC"/>
              </a:rPr>
              <a:t>阶段二：账本</a:t>
            </a:r>
            <a:r>
              <a:rPr sz="1200" b="0" i="0" dirty="0">
                <a:solidFill>
                  <a:srgbClr val="FFFFFF"/>
                </a:solidFill>
                <a:latin typeface="Noto Sans CJK SC"/>
              </a:rPr>
              <a:t>/</a:t>
            </a:r>
            <a:r>
              <a:rPr sz="1200" b="0" i="0" dirty="0" err="1">
                <a:solidFill>
                  <a:srgbClr val="FFFFFF"/>
                </a:solidFill>
                <a:latin typeface="Noto Sans CJK SC"/>
              </a:rPr>
              <a:t>核验</a:t>
            </a:r>
            <a:r>
              <a:rPr sz="1200" b="0" i="0" dirty="0">
                <a:solidFill>
                  <a:srgbClr val="FFFFFF"/>
                </a:solidFill>
                <a:latin typeface="Noto Sans CJK SC"/>
              </a:rPr>
              <a:t>/</a:t>
            </a:r>
            <a:r>
              <a:rPr sz="1200" b="0" i="0" dirty="0" err="1">
                <a:solidFill>
                  <a:srgbClr val="FFFFFF"/>
                </a:solidFill>
                <a:latin typeface="Noto Sans CJK SC"/>
              </a:rPr>
              <a:t>控制模块已有离线证据，生产接线待闭合</a:t>
            </a:r>
            <a:r>
              <a:rPr sz="1200" b="0" i="0" dirty="0">
                <a:solidFill>
                  <a:srgbClr val="FFFFFF"/>
                </a:solidFill>
                <a:latin typeface="Noto Sans CJK SC"/>
              </a:rPr>
              <a:t>   ·   </a:t>
            </a:r>
            <a:r>
              <a:rPr sz="1200" b="0" i="0" dirty="0" err="1">
                <a:solidFill>
                  <a:srgbClr val="FFFFFF"/>
                </a:solidFill>
                <a:latin typeface="Noto Sans CJK SC"/>
              </a:rPr>
              <a:t>阶段三：实验方案待执行</a:t>
            </a:r>
            <a:endParaRPr sz="1200" b="0" i="0" dirty="0">
              <a:solidFill>
                <a:srgbClr val="FFFFFF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" y="292608"/>
            <a:ext cx="91440" cy="329184"/>
          </a:xfrm>
          <a:prstGeom prst="rect">
            <a:avLst/>
          </a:prstGeom>
          <a:solidFill>
            <a:srgbClr val="13A6A0"/>
          </a:solidFill>
          <a:ln w="1270">
            <a:solidFill>
              <a:srgbClr val="13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3A6A0"/>
                </a:solidFill>
                <a:latin typeface="Noto Sans CJK SC"/>
              </a:rPr>
              <a:t>02  EXECUTION &amp;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42B45"/>
                </a:solidFill>
                <a:latin typeface="Noto Sans CJK SC"/>
              </a:rPr>
              <a:t>任务执行与容错｜把“动作执行”与“业务目标完成”分开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1513"/>
            <a:ext cx="109728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核心原则：目标有来源、动作有预期效果、完成有证据；结果未知时不重复写入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09960" cy="0"/>
          </a:xfrm>
          <a:prstGeom prst="line">
            <a:avLst/>
          </a:prstGeom>
          <a:ln w="10160">
            <a:solidFill>
              <a:srgbClr val="D8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40412"/>
            <a:ext cx="621792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dirty="0">
                <a:solidFill>
                  <a:srgbClr val="5F7184"/>
                </a:solidFill>
                <a:latin typeface="Noto Sans CJK SC"/>
              </a:rPr>
              <a:t>WEB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01384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F7184"/>
                </a:solidFill>
                <a:latin typeface="Noto Sans CJK SC"/>
              </a:rPr>
              <a:t>02 /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1874519" cy="85953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 w="10160"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6656" y="1737360"/>
            <a:ext cx="365760" cy="219456"/>
          </a:xfrm>
          <a:prstGeom prst="roundRect">
            <a:avLst>
              <a:gd name="adj" fmla="val 12000"/>
            </a:avLst>
          </a:prstGeom>
          <a:solidFill>
            <a:srgbClr val="4779AD"/>
          </a:solidFill>
          <a:ln w="6350">
            <a:solidFill>
              <a:srgbClr val="477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741931"/>
            <a:ext cx="310896" cy="21031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700784"/>
            <a:ext cx="1188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2B45"/>
                </a:solidFill>
                <a:latin typeface="Noto Sans CJK SC"/>
              </a:rPr>
              <a:t>任务账本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081040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dirty="0" err="1">
                <a:solidFill>
                  <a:srgbClr val="5F7184"/>
                </a:solidFill>
                <a:latin typeface="Noto Sans CJK SC"/>
              </a:rPr>
              <a:t>目标</a:t>
            </a:r>
            <a:r>
              <a:rPr sz="1000" b="0" i="0" dirty="0">
                <a:solidFill>
                  <a:srgbClr val="5F7184"/>
                </a:solidFill>
                <a:latin typeface="Noto Sans CJK SC"/>
              </a:rPr>
              <a:t> / </a:t>
            </a:r>
            <a:r>
              <a:rPr sz="1000" b="0" i="0" dirty="0" err="1">
                <a:solidFill>
                  <a:srgbClr val="5F7184"/>
                </a:solidFill>
                <a:latin typeface="Noto Sans CJK SC"/>
              </a:rPr>
              <a:t>对象</a:t>
            </a:r>
            <a:r>
              <a:rPr sz="1000" b="0" i="0" dirty="0">
                <a:solidFill>
                  <a:srgbClr val="5F7184"/>
                </a:solidFill>
                <a:latin typeface="Noto Sans CJK SC"/>
              </a:rPr>
              <a:t> / </a:t>
            </a:r>
            <a:r>
              <a:rPr sz="1000" b="0" i="0" dirty="0" err="1">
                <a:solidFill>
                  <a:srgbClr val="5F7184"/>
                </a:solidFill>
                <a:latin typeface="Noto Sans CJK SC"/>
              </a:rPr>
              <a:t>依赖</a:t>
            </a:r>
            <a:endParaRPr sz="1000" b="0" i="0" dirty="0">
              <a:solidFill>
                <a:srgbClr val="5F7184"/>
              </a:solidFill>
              <a:latin typeface="Noto Sans CJK SC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2057400"/>
            <a:ext cx="274320" cy="0"/>
          </a:xfrm>
          <a:prstGeom prst="line">
            <a:avLst/>
          </a:prstGeom>
          <a:ln w="20320">
            <a:solidFill>
              <a:srgbClr val="13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16352" y="1651272"/>
            <a:ext cx="1874519" cy="85953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 w="10160"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26080" y="1737360"/>
            <a:ext cx="365760" cy="219456"/>
          </a:xfrm>
          <a:prstGeom prst="roundRect">
            <a:avLst>
              <a:gd name="adj" fmla="val 12000"/>
            </a:avLst>
          </a:prstGeom>
          <a:solidFill>
            <a:srgbClr val="13A6A0"/>
          </a:solidFill>
          <a:ln w="6350">
            <a:solidFill>
              <a:srgbClr val="13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53512" y="1741931"/>
            <a:ext cx="310896" cy="21031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1700784"/>
            <a:ext cx="1188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2B45"/>
                </a:solidFill>
                <a:latin typeface="Noto Sans CJK SC"/>
              </a:rPr>
              <a:t>执行计划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081040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dirty="0" err="1">
                <a:solidFill>
                  <a:srgbClr val="5F7184"/>
                </a:solidFill>
                <a:latin typeface="Noto Sans CJK SC"/>
              </a:rPr>
              <a:t>就绪节点</a:t>
            </a:r>
            <a:r>
              <a:rPr sz="1000" b="0" i="0" dirty="0">
                <a:solidFill>
                  <a:srgbClr val="5F7184"/>
                </a:solidFill>
                <a:latin typeface="Noto Sans CJK SC"/>
              </a:rPr>
              <a:t> / </a:t>
            </a:r>
            <a:r>
              <a:rPr sz="1000" b="0" i="0" dirty="0" err="1">
                <a:solidFill>
                  <a:srgbClr val="5F7184"/>
                </a:solidFill>
                <a:latin typeface="Noto Sans CJK SC"/>
              </a:rPr>
              <a:t>资源</a:t>
            </a:r>
            <a:endParaRPr sz="1000" b="0" i="0" dirty="0">
              <a:solidFill>
                <a:srgbClr val="5F7184"/>
              </a:solidFill>
              <a:latin typeface="Noto Sans CJK SC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4718304" y="2057400"/>
            <a:ext cx="274320" cy="0"/>
          </a:xfrm>
          <a:prstGeom prst="line">
            <a:avLst/>
          </a:prstGeom>
          <a:ln w="20320">
            <a:solidFill>
              <a:srgbClr val="13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65776" y="1627632"/>
            <a:ext cx="1874519" cy="85953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 w="10160"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175504" y="1737360"/>
            <a:ext cx="365760" cy="219456"/>
          </a:xfrm>
          <a:prstGeom prst="roundRect">
            <a:avLst>
              <a:gd name="adj" fmla="val 12000"/>
            </a:avLst>
          </a:prstGeom>
          <a:solidFill>
            <a:srgbClr val="D99A36"/>
          </a:solidFill>
          <a:ln w="6350">
            <a:solidFill>
              <a:srgbClr val="D99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02936" y="1741931"/>
            <a:ext cx="310896" cy="21031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4416" y="1700784"/>
            <a:ext cx="1188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2B45"/>
                </a:solidFill>
                <a:latin typeface="Noto Sans CJK SC"/>
              </a:rPr>
              <a:t>效果登记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2081040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5F7184"/>
                </a:solidFill>
                <a:latin typeface="Noto Sans CJK SC"/>
              </a:rPr>
              <a:t>Pending Effect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67728" y="2057400"/>
            <a:ext cx="274320" cy="0"/>
          </a:xfrm>
          <a:prstGeom prst="line">
            <a:avLst/>
          </a:prstGeom>
          <a:ln w="20320">
            <a:solidFill>
              <a:srgbClr val="13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15200" y="1627632"/>
            <a:ext cx="1874519" cy="85953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 w="10160"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24927" y="1737360"/>
            <a:ext cx="365760" cy="219456"/>
          </a:xfrm>
          <a:prstGeom prst="roundRect">
            <a:avLst>
              <a:gd name="adj" fmla="val 12000"/>
            </a:avLst>
          </a:prstGeom>
          <a:solidFill>
            <a:srgbClr val="3F99C9"/>
          </a:solidFill>
          <a:ln w="6350">
            <a:solidFill>
              <a:srgbClr val="3F9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52359" y="1741931"/>
            <a:ext cx="310896" cy="21031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Noto Sans CJK SC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1700784"/>
            <a:ext cx="1188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2B45"/>
                </a:solidFill>
                <a:latin typeface="Noto Sans CJK SC"/>
              </a:rPr>
              <a:t>新观察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2081040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dirty="0" err="1">
                <a:solidFill>
                  <a:srgbClr val="5F7184"/>
                </a:solidFill>
                <a:latin typeface="Noto Sans CJK SC"/>
              </a:rPr>
              <a:t>页面</a:t>
            </a:r>
            <a:r>
              <a:rPr sz="1000" b="0" i="0" dirty="0">
                <a:solidFill>
                  <a:srgbClr val="5F7184"/>
                </a:solidFill>
                <a:latin typeface="Noto Sans CJK SC"/>
              </a:rPr>
              <a:t> / </a:t>
            </a:r>
            <a:r>
              <a:rPr sz="1000" b="0" i="0" dirty="0" err="1">
                <a:solidFill>
                  <a:srgbClr val="5F7184"/>
                </a:solidFill>
                <a:latin typeface="Noto Sans CJK SC"/>
              </a:rPr>
              <a:t>回执</a:t>
            </a:r>
            <a:r>
              <a:rPr sz="1000" b="0" i="0" dirty="0">
                <a:solidFill>
                  <a:srgbClr val="5F7184"/>
                </a:solidFill>
                <a:latin typeface="Noto Sans CJK SC"/>
              </a:rPr>
              <a:t> / </a:t>
            </a:r>
            <a:r>
              <a:rPr sz="1000" b="0" i="0" dirty="0" err="1">
                <a:solidFill>
                  <a:srgbClr val="5F7184"/>
                </a:solidFill>
                <a:latin typeface="Noto Sans CJK SC"/>
              </a:rPr>
              <a:t>证据</a:t>
            </a:r>
            <a:endParaRPr sz="1000" b="0" i="0" dirty="0">
              <a:solidFill>
                <a:srgbClr val="5F7184"/>
              </a:solidFill>
              <a:latin typeface="Noto Sans CJK SC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9217152" y="2057400"/>
            <a:ext cx="274320" cy="0"/>
          </a:xfrm>
          <a:prstGeom prst="line">
            <a:avLst/>
          </a:prstGeom>
          <a:ln w="20320">
            <a:solidFill>
              <a:srgbClr val="13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564624" y="1627632"/>
            <a:ext cx="1874519" cy="859536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 w="10160"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674352" y="1737360"/>
            <a:ext cx="365760" cy="219456"/>
          </a:xfrm>
          <a:prstGeom prst="roundRect">
            <a:avLst>
              <a:gd name="adj" fmla="val 12000"/>
            </a:avLst>
          </a:prstGeom>
          <a:solidFill>
            <a:srgbClr val="3C987A"/>
          </a:solidFill>
          <a:ln w="6350">
            <a:solidFill>
              <a:srgbClr val="3C9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01784" y="1741931"/>
            <a:ext cx="310896" cy="21031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Noto Sans CJK SC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13264" y="1700784"/>
            <a:ext cx="11887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2B45"/>
                </a:solidFill>
                <a:latin typeface="Noto Sans CJK SC"/>
              </a:rPr>
              <a:t>结果核验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072" y="2081040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5F7184"/>
                </a:solidFill>
                <a:latin typeface="Noto Sans CJK SC"/>
              </a:rPr>
              <a:t>pass / fail / unknown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2761488"/>
            <a:ext cx="3511296" cy="1298448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 w="11430">
            <a:solidFill>
              <a:srgbClr val="B5D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49808" y="2889504"/>
            <a:ext cx="1051560" cy="256032"/>
          </a:xfrm>
          <a:prstGeom prst="roundRect">
            <a:avLst>
              <a:gd name="adj" fmla="val 12000"/>
            </a:avLst>
          </a:prstGeom>
          <a:solidFill>
            <a:srgbClr val="3C987A"/>
          </a:solidFill>
          <a:ln w="6350">
            <a:solidFill>
              <a:srgbClr val="3C9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2931342"/>
            <a:ext cx="996695" cy="17235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dirty="0">
                <a:solidFill>
                  <a:srgbClr val="FFFFFF"/>
                </a:solidFill>
                <a:latin typeface="Noto Sans CJK SC"/>
              </a:rPr>
              <a:t>VERIFIED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3227832"/>
            <a:ext cx="308152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 err="1">
                <a:solidFill>
                  <a:srgbClr val="203247"/>
                </a:solidFill>
                <a:latin typeface="Noto Sans CJK SC"/>
              </a:rPr>
              <a:t>业务状态满足全部条件</a:t>
            </a:r>
            <a:r>
              <a:rPr sz="1200" b="0" i="0" dirty="0">
                <a:solidFill>
                  <a:srgbClr val="203247"/>
                </a:solidFill>
                <a:latin typeface="Noto Sans CJK SC"/>
              </a:rPr>
              <a:t>
</a:t>
            </a:r>
            <a:r>
              <a:rPr sz="1200" b="0" i="0" dirty="0" err="1">
                <a:solidFill>
                  <a:srgbClr val="203247"/>
                </a:solidFill>
                <a:latin typeface="Noto Sans CJK SC"/>
              </a:rPr>
              <a:t>推进目标进度，已完成对象不再重复写入</a:t>
            </a:r>
            <a:r>
              <a:rPr sz="1200" b="0" i="0" dirty="0">
                <a:solidFill>
                  <a:srgbClr val="203247"/>
                </a:solidFill>
                <a:latin typeface="Noto Sans CJK SC"/>
              </a:rPr>
              <a:t>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6" y="2761488"/>
            <a:ext cx="3511296" cy="1298448"/>
          </a:xfrm>
          <a:prstGeom prst="roundRect">
            <a:avLst>
              <a:gd name="adj" fmla="val 12000"/>
            </a:avLst>
          </a:prstGeom>
          <a:solidFill>
            <a:srgbClr val="FBF4E9"/>
          </a:solidFill>
          <a:ln w="11430">
            <a:solidFill>
              <a:srgbClr val="E8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517136" y="2889504"/>
            <a:ext cx="804672" cy="256032"/>
          </a:xfrm>
          <a:prstGeom prst="roundRect">
            <a:avLst>
              <a:gd name="adj" fmla="val 12000"/>
            </a:avLst>
          </a:prstGeom>
          <a:solidFill>
            <a:srgbClr val="D99A36"/>
          </a:solidFill>
          <a:ln w="6350">
            <a:solidFill>
              <a:srgbClr val="D99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44568" y="2931342"/>
            <a:ext cx="749808" cy="17235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dirty="0">
                <a:solidFill>
                  <a:srgbClr val="FFFFFF"/>
                </a:solidFill>
                <a:latin typeface="Noto Sans CJK SC"/>
              </a:rPr>
              <a:t>FAILED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17136" y="3227832"/>
            <a:ext cx="308152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 err="1">
                <a:solidFill>
                  <a:srgbClr val="203247"/>
                </a:solidFill>
                <a:latin typeface="Noto Sans CJK SC"/>
              </a:rPr>
              <a:t>有证据确认效果未满足</a:t>
            </a:r>
            <a:r>
              <a:rPr sz="1200" b="0" i="0" dirty="0">
                <a:solidFill>
                  <a:srgbClr val="203247"/>
                </a:solidFill>
                <a:latin typeface="Noto Sans CJK SC"/>
              </a:rPr>
              <a:t>
</a:t>
            </a:r>
            <a:r>
              <a:rPr sz="1200" b="0" i="0" dirty="0" err="1">
                <a:solidFill>
                  <a:srgbClr val="203247"/>
                </a:solidFill>
                <a:latin typeface="Noto Sans CJK SC"/>
              </a:rPr>
              <a:t>定位最早错误节点，只恢复受影响依赖闭包</a:t>
            </a:r>
            <a:r>
              <a:rPr sz="1200" b="0" i="0" dirty="0">
                <a:solidFill>
                  <a:srgbClr val="203247"/>
                </a:solidFill>
                <a:latin typeface="Noto Sans CJK SC"/>
              </a:rPr>
              <a:t>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01583" y="2761488"/>
            <a:ext cx="3511296" cy="1298448"/>
          </a:xfrm>
          <a:prstGeom prst="roundRect">
            <a:avLst>
              <a:gd name="adj" fmla="val 12000"/>
            </a:avLst>
          </a:prstGeom>
          <a:solidFill>
            <a:srgbClr val="F9EEEE"/>
          </a:solidFill>
          <a:ln w="11430">
            <a:solidFill>
              <a:srgbClr val="E8C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284464" y="2889504"/>
            <a:ext cx="877824" cy="256032"/>
          </a:xfrm>
          <a:prstGeom prst="roundRect">
            <a:avLst>
              <a:gd name="adj" fmla="val 12000"/>
            </a:avLst>
          </a:prstGeom>
          <a:solidFill>
            <a:srgbClr val="C96B62"/>
          </a:solidFill>
          <a:ln w="6350">
            <a:solidFill>
              <a:srgbClr val="C9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11896" y="2931342"/>
            <a:ext cx="822959" cy="17235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dirty="0">
                <a:solidFill>
                  <a:srgbClr val="FFFFFF"/>
                </a:solidFill>
                <a:latin typeface="Noto Sans CJK SC"/>
              </a:rPr>
              <a:t>UNKNOWN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227832"/>
            <a:ext cx="307238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 err="1">
                <a:solidFill>
                  <a:srgbClr val="203247"/>
                </a:solidFill>
                <a:latin typeface="Noto Sans CJK SC"/>
              </a:rPr>
              <a:t>既不能证实成功，也不能证实失败</a:t>
            </a:r>
            <a:r>
              <a:rPr sz="1200" b="0" i="0" dirty="0">
                <a:solidFill>
                  <a:srgbClr val="203247"/>
                </a:solidFill>
                <a:latin typeface="Noto Sans CJK SC"/>
              </a:rPr>
              <a:t>
</a:t>
            </a:r>
            <a:r>
              <a:rPr sz="1200" b="0" i="0" dirty="0" err="1">
                <a:solidFill>
                  <a:srgbClr val="203247"/>
                </a:solidFill>
                <a:latin typeface="Noto Sans CJK SC"/>
              </a:rPr>
              <a:t>暂停写入；只读查证，不因超时而重发</a:t>
            </a:r>
            <a:r>
              <a:rPr sz="1200" b="0" i="0" dirty="0">
                <a:solidFill>
                  <a:srgbClr val="203247"/>
                </a:solidFill>
                <a:latin typeface="Noto Sans CJK SC"/>
              </a:rPr>
              <a:t>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" y="4297680"/>
            <a:ext cx="3511296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66928" y="4297680"/>
            <a:ext cx="64008" cy="1170432"/>
          </a:xfrm>
          <a:prstGeom prst="rect">
            <a:avLst/>
          </a:prstGeom>
          <a:solidFill>
            <a:srgbClr val="13A6A0"/>
          </a:solidFill>
          <a:ln w="1270">
            <a:solidFill>
              <a:srgbClr val="13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4389120"/>
            <a:ext cx="3255263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2B45"/>
                </a:solidFill>
                <a:latin typeface="Noto Sans CJK SC"/>
              </a:rPr>
              <a:t>结果确认｜证据约束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681728"/>
            <a:ext cx="3236976" cy="54373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确定性字段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 / URL / 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对象范围检查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；
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语义判断引用当前观察与原任务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；
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最终完成门禁要求全部目标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 verified。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34256" y="4297680"/>
            <a:ext cx="3511296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334256" y="4297680"/>
            <a:ext cx="64008" cy="1170432"/>
          </a:xfrm>
          <a:prstGeom prst="rect">
            <a:avLst/>
          </a:prstGeom>
          <a:solidFill>
            <a:srgbClr val="D99A36"/>
          </a:solidFill>
          <a:ln w="1270">
            <a:solidFill>
              <a:srgbClr val="D99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498848" y="4389120"/>
            <a:ext cx="3255263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2B45"/>
                </a:solidFill>
                <a:latin typeface="Noto Sans CJK SC"/>
              </a:rPr>
              <a:t>容错恢复｜保留有效进度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98848" y="4681728"/>
            <a:ext cx="3236976" cy="3659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失败分类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 → 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证据锚点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 → 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依赖闭包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；
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无关已确认目标保留；重试有次数与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 deadline 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上限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01583" y="4297680"/>
            <a:ext cx="3511296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01583" y="4297680"/>
            <a:ext cx="64008" cy="1170432"/>
          </a:xfrm>
          <a:prstGeom prst="rect">
            <a:avLst/>
          </a:prstGeom>
          <a:solidFill>
            <a:srgbClr val="3F99C9"/>
          </a:solidFill>
          <a:ln w="1270">
            <a:solidFill>
              <a:srgbClr val="3F9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66175" y="4389120"/>
            <a:ext cx="3255263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2B45"/>
                </a:solidFill>
                <a:latin typeface="Noto Sans CJK SC"/>
              </a:rPr>
              <a:t>人工接管｜全局暂停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66175" y="4681728"/>
            <a:ext cx="3236976" cy="36599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关派发门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 → 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排空在途动作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 → 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用户接管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；
</a:t>
            </a:r>
            <a:r>
              <a:rPr sz="1100" b="0" i="0" dirty="0" err="1">
                <a:solidFill>
                  <a:srgbClr val="5F7184"/>
                </a:solidFill>
                <a:latin typeface="Noto Sans CJK SC"/>
              </a:rPr>
              <a:t>恢复后新观察、旧编号失效、同一循环继续</a:t>
            </a:r>
            <a:r>
              <a:rPr sz="1100" b="0" i="0" dirty="0">
                <a:solidFill>
                  <a:srgbClr val="5F7184"/>
                </a:solidFill>
                <a:latin typeface="Noto Sans CJK SC"/>
              </a:rPr>
              <a:t>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6928" y="5623560"/>
            <a:ext cx="11045952" cy="512064"/>
          </a:xfrm>
          <a:prstGeom prst="roundRect">
            <a:avLst>
              <a:gd name="adj" fmla="val 12000"/>
            </a:avLst>
          </a:prstGeom>
          <a:solidFill>
            <a:srgbClr val="142B45"/>
          </a:solidFill>
          <a:ln w="10160">
            <a:solidFill>
              <a:srgbClr val="14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68096" y="5743936"/>
            <a:ext cx="141732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dirty="0" err="1">
                <a:solidFill>
                  <a:srgbClr val="9CDCD6"/>
                </a:solidFill>
                <a:latin typeface="Noto Sans CJK SC"/>
              </a:rPr>
              <a:t>受控并行</a:t>
            </a:r>
            <a:endParaRPr sz="1050" b="1" i="0" dirty="0">
              <a:solidFill>
                <a:srgbClr val="9CDCD6"/>
              </a:solidFill>
              <a:latin typeface="Noto Sans CJK SC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194560" y="5791567"/>
            <a:ext cx="9144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 err="1">
                <a:solidFill>
                  <a:srgbClr val="FFFFFF"/>
                </a:solidFill>
                <a:latin typeface="Noto Sans CJK SC"/>
              </a:rPr>
              <a:t>独立只读分支可并行；共享账号</a:t>
            </a:r>
            <a:r>
              <a:rPr sz="1200" b="0" i="0" dirty="0">
                <a:solidFill>
                  <a:srgbClr val="FFFFFF"/>
                </a:solidFill>
                <a:latin typeface="Noto Sans CJK SC"/>
              </a:rPr>
              <a:t> / </a:t>
            </a:r>
            <a:r>
              <a:rPr sz="1200" b="0" i="0" dirty="0" err="1">
                <a:solidFill>
                  <a:srgbClr val="FFFFFF"/>
                </a:solidFill>
                <a:latin typeface="Noto Sans CJK SC"/>
              </a:rPr>
              <a:t>对象写入串行或加锁；每</a:t>
            </a:r>
            <a:r>
              <a:rPr sz="1200" b="0" i="0" dirty="0">
                <a:solidFill>
                  <a:srgbClr val="FFFFFF"/>
                </a:solidFill>
                <a:latin typeface="Noto Sans CJK SC"/>
              </a:rPr>
              <a:t> Tab </a:t>
            </a:r>
            <a:r>
              <a:rPr sz="1200" b="0" i="0" dirty="0" err="1">
                <a:solidFill>
                  <a:srgbClr val="FFFFFF"/>
                </a:solidFill>
                <a:latin typeface="Noto Sans CJK SC"/>
              </a:rPr>
              <a:t>单在途动作；官方平台仍遵守单任务、单动作约束</a:t>
            </a:r>
            <a:r>
              <a:rPr sz="1200" b="0" i="0" dirty="0">
                <a:solidFill>
                  <a:srgbClr val="FFFFFF"/>
                </a:solidFill>
                <a:latin typeface="Noto Sans CJK SC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" y="292608"/>
            <a:ext cx="91440" cy="329184"/>
          </a:xfrm>
          <a:prstGeom prst="rect">
            <a:avLst/>
          </a:prstGeom>
          <a:solidFill>
            <a:srgbClr val="13A6A0"/>
          </a:solidFill>
          <a:ln w="1270">
            <a:solidFill>
              <a:srgbClr val="13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3A6A0"/>
                </a:solidFill>
                <a:latin typeface="Noto Sans CJK SC"/>
              </a:rPr>
              <a:t>03  DEVELOPMENT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42B45"/>
                </a:solidFill>
                <a:latin typeface="Noto Sans CJK SC"/>
              </a:rPr>
              <a:t>开发与验证逻辑｜先跑通双环境，再建立能力，最后用实验决定取舍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23819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 err="1">
                <a:solidFill>
                  <a:srgbClr val="5F7184"/>
                </a:solidFill>
                <a:latin typeface="Noto Sans CJK SC"/>
              </a:rPr>
              <a:t>设计依据：赛题约束</a:t>
            </a:r>
            <a:r>
              <a:rPr sz="1200" b="0" i="0" dirty="0">
                <a:solidFill>
                  <a:srgbClr val="5F7184"/>
                </a:solidFill>
                <a:latin typeface="Noto Sans CJK SC"/>
              </a:rPr>
              <a:t> × </a:t>
            </a:r>
            <a:r>
              <a:rPr sz="1200" b="0" i="0" dirty="0" err="1">
                <a:solidFill>
                  <a:srgbClr val="5F7184"/>
                </a:solidFill>
                <a:latin typeface="Noto Sans CJK SC"/>
              </a:rPr>
              <a:t>EffGen</a:t>
            </a:r>
            <a:r>
              <a:rPr sz="1200" b="0" i="0" dirty="0">
                <a:solidFill>
                  <a:srgbClr val="5F7184"/>
                </a:solidFill>
                <a:latin typeface="Noto Sans CJK SC"/>
              </a:rPr>
              <a:t> </a:t>
            </a:r>
            <a:r>
              <a:rPr sz="1200" b="0" i="0" dirty="0" err="1">
                <a:solidFill>
                  <a:srgbClr val="5F7184"/>
                </a:solidFill>
                <a:latin typeface="Noto Sans CJK SC"/>
              </a:rPr>
              <a:t>原生能力复用</a:t>
            </a:r>
            <a:r>
              <a:rPr sz="1200" b="0" i="0" dirty="0">
                <a:solidFill>
                  <a:srgbClr val="5F7184"/>
                </a:solidFill>
                <a:latin typeface="Noto Sans CJK SC"/>
              </a:rPr>
              <a:t> × </a:t>
            </a:r>
            <a:r>
              <a:rPr sz="1200" b="0" i="0" dirty="0" err="1">
                <a:solidFill>
                  <a:srgbClr val="5F7184"/>
                </a:solidFill>
                <a:latin typeface="Noto Sans CJK SC"/>
              </a:rPr>
              <a:t>论文方法候选；论文收益不直接当作本项目结果</a:t>
            </a:r>
            <a:r>
              <a:rPr sz="1200" b="0" i="0" dirty="0">
                <a:solidFill>
                  <a:srgbClr val="5F7184"/>
                </a:solidFill>
                <a:latin typeface="Noto Sans CJK SC"/>
              </a:rPr>
              <a:t>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09960" cy="0"/>
          </a:xfrm>
          <a:prstGeom prst="line">
            <a:avLst/>
          </a:prstGeom>
          <a:ln w="10160">
            <a:solidFill>
              <a:srgbClr val="D8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40412"/>
            <a:ext cx="621792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dirty="0">
                <a:solidFill>
                  <a:srgbClr val="5F7184"/>
                </a:solidFill>
                <a:latin typeface="Noto Sans CJK SC"/>
              </a:rPr>
              <a:t>WEB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01384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F7184"/>
                </a:solidFill>
                <a:latin typeface="Noto Sans CJK SC"/>
              </a:rPr>
              <a:t>03 /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3547872" cy="1938528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 w="10160"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713232" cy="256032"/>
          </a:xfrm>
          <a:prstGeom prst="roundRect">
            <a:avLst>
              <a:gd name="adj" fmla="val 12000"/>
            </a:avLst>
          </a:prstGeom>
          <a:solidFill>
            <a:srgbClr val="13A6A0"/>
          </a:solidFill>
          <a:ln w="6350">
            <a:solidFill>
              <a:srgbClr val="13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87651"/>
            <a:ext cx="658368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 CJK SC"/>
              </a:rPr>
              <a:t>阶段一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30552"/>
            <a:ext cx="3182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B45"/>
                </a:solidFill>
                <a:latin typeface="Noto Sans CJK SC"/>
              </a:rPr>
              <a:t>双环境跑通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42032"/>
            <a:ext cx="3182112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 err="1">
                <a:solidFill>
                  <a:srgbClr val="203247"/>
                </a:solidFill>
                <a:latin typeface="Noto Sans CJK SC"/>
              </a:rPr>
              <a:t>统一协议</a:t>
            </a:r>
            <a:r>
              <a:rPr sz="1100" b="0" i="0" dirty="0">
                <a:solidFill>
                  <a:srgbClr val="203247"/>
                </a:solidFill>
                <a:latin typeface="Noto Sans CJK SC"/>
              </a:rPr>
              <a:t> / </a:t>
            </a:r>
            <a:r>
              <a:rPr sz="1100" b="0" i="0" dirty="0" err="1">
                <a:solidFill>
                  <a:srgbClr val="203247"/>
                </a:solidFill>
                <a:latin typeface="Noto Sans CJK SC"/>
              </a:rPr>
              <a:t>可暂停循环</a:t>
            </a:r>
            <a:r>
              <a:rPr sz="1100" b="0" i="0" dirty="0">
                <a:solidFill>
                  <a:srgbClr val="203247"/>
                </a:solidFill>
                <a:latin typeface="Noto Sans CJK SC"/>
              </a:rPr>
              <a:t>
</a:t>
            </a:r>
            <a:r>
              <a:rPr sz="1100" b="0" i="0" dirty="0" err="1">
                <a:solidFill>
                  <a:srgbClr val="203247"/>
                </a:solidFill>
                <a:latin typeface="Noto Sans CJK SC"/>
              </a:rPr>
              <a:t>官方平台适配</a:t>
            </a:r>
            <a:r>
              <a:rPr sz="1100" b="0" i="0" dirty="0">
                <a:solidFill>
                  <a:srgbClr val="203247"/>
                </a:solidFill>
                <a:latin typeface="Noto Sans CJK SC"/>
              </a:rPr>
              <a:t> + Playwright
</a:t>
            </a:r>
            <a:r>
              <a:rPr sz="1100" b="0" i="0" dirty="0" err="1">
                <a:solidFill>
                  <a:srgbClr val="203247"/>
                </a:solidFill>
                <a:latin typeface="Noto Sans CJK SC"/>
              </a:rPr>
              <a:t>运行日志与证据存储</a:t>
            </a:r>
            <a:endParaRPr sz="1100" b="0" i="0" dirty="0">
              <a:solidFill>
                <a:srgbClr val="203247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3292620"/>
            <a:ext cx="318211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dirty="0" err="1">
                <a:solidFill>
                  <a:srgbClr val="13A6A0"/>
                </a:solidFill>
                <a:latin typeface="Noto Sans CJK SC"/>
              </a:rPr>
              <a:t>基本跑通；已识别接入修复项</a:t>
            </a:r>
            <a:endParaRPr sz="1000" b="1" i="0" dirty="0">
              <a:solidFill>
                <a:srgbClr val="13A6A0"/>
              </a:solidFill>
              <a:latin typeface="Noto Sans CJK SC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4142232" y="2587752"/>
            <a:ext cx="146304" cy="0"/>
          </a:xfrm>
          <a:prstGeom prst="line">
            <a:avLst/>
          </a:prstGeom>
          <a:ln w="20320">
            <a:solidFill>
              <a:srgbClr val="13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15968" y="1627632"/>
            <a:ext cx="3547872" cy="1938528"/>
          </a:xfrm>
          <a:prstGeom prst="roundRect">
            <a:avLst>
              <a:gd name="adj" fmla="val 12000"/>
            </a:avLst>
          </a:prstGeom>
          <a:solidFill>
            <a:srgbClr val="EAF2F8"/>
          </a:solidFill>
          <a:ln w="10160"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80559" y="1783080"/>
            <a:ext cx="713232" cy="256032"/>
          </a:xfrm>
          <a:prstGeom prst="roundRect">
            <a:avLst>
              <a:gd name="adj" fmla="val 12000"/>
            </a:avLst>
          </a:prstGeom>
          <a:solidFill>
            <a:srgbClr val="3F99C9"/>
          </a:solidFill>
          <a:ln w="6350">
            <a:solidFill>
              <a:srgbClr val="3F9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7992" y="1787651"/>
            <a:ext cx="658368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 CJK SC"/>
              </a:rPr>
              <a:t>阶段二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130552"/>
            <a:ext cx="3182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B45"/>
                </a:solidFill>
                <a:latin typeface="Noto Sans CJK SC"/>
              </a:rPr>
              <a:t>基础能力与测试环境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2542032"/>
            <a:ext cx="3182112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 err="1">
                <a:solidFill>
                  <a:srgbClr val="203247"/>
                </a:solidFill>
                <a:latin typeface="Noto Sans CJK SC"/>
              </a:rPr>
              <a:t>隔离测试站点</a:t>
            </a:r>
            <a:r>
              <a:rPr sz="1100" b="0" i="0" dirty="0">
                <a:solidFill>
                  <a:srgbClr val="203247"/>
                </a:solidFill>
                <a:latin typeface="Noto Sans CJK SC"/>
              </a:rPr>
              <a:t> / </a:t>
            </a:r>
            <a:r>
              <a:rPr sz="1100" b="0" i="0" dirty="0" err="1">
                <a:solidFill>
                  <a:srgbClr val="203247"/>
                </a:solidFill>
                <a:latin typeface="Noto Sans CJK SC"/>
              </a:rPr>
              <a:t>TaskState</a:t>
            </a:r>
            <a:r>
              <a:rPr sz="1100" b="0" i="0" dirty="0">
                <a:solidFill>
                  <a:srgbClr val="203247"/>
                </a:solidFill>
                <a:latin typeface="Noto Sans CJK SC"/>
              </a:rPr>
              <a:t>
</a:t>
            </a:r>
            <a:r>
              <a:rPr sz="1100" b="0" i="0" dirty="0" err="1">
                <a:solidFill>
                  <a:srgbClr val="203247"/>
                </a:solidFill>
                <a:latin typeface="Noto Sans CJK SC"/>
              </a:rPr>
              <a:t>核验与恢复</a:t>
            </a:r>
            <a:r>
              <a:rPr sz="1100" b="0" i="0" dirty="0">
                <a:solidFill>
                  <a:srgbClr val="203247"/>
                </a:solidFill>
                <a:latin typeface="Noto Sans CJK SC"/>
              </a:rPr>
              <a:t> / </a:t>
            </a:r>
            <a:r>
              <a:rPr sz="1100" b="0" i="0" dirty="0" err="1">
                <a:solidFill>
                  <a:srgbClr val="203247"/>
                </a:solidFill>
                <a:latin typeface="Noto Sans CJK SC"/>
              </a:rPr>
              <a:t>用户接管</a:t>
            </a:r>
            <a:r>
              <a:rPr sz="1100" b="0" i="0" dirty="0">
                <a:solidFill>
                  <a:srgbClr val="203247"/>
                </a:solidFill>
                <a:latin typeface="Noto Sans CJK SC"/>
              </a:rPr>
              <a:t>
</a:t>
            </a:r>
            <a:r>
              <a:rPr sz="1100" b="0" i="0" dirty="0" err="1">
                <a:solidFill>
                  <a:srgbClr val="203247"/>
                </a:solidFill>
                <a:latin typeface="Noto Sans CJK SC"/>
              </a:rPr>
              <a:t>调度与限流能力模块</a:t>
            </a:r>
            <a:endParaRPr sz="1100" b="0" i="0" dirty="0">
              <a:solidFill>
                <a:srgbClr val="203247"/>
              </a:solidFill>
              <a:latin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80559" y="3292620"/>
            <a:ext cx="318211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dirty="0" err="1">
                <a:solidFill>
                  <a:srgbClr val="3F99C9"/>
                </a:solidFill>
                <a:latin typeface="Noto Sans CJK SC"/>
              </a:rPr>
              <a:t>模块与离线验证有证据；生产接线待闭合</a:t>
            </a:r>
            <a:endParaRPr sz="1000" b="1" i="0" dirty="0">
              <a:solidFill>
                <a:srgbClr val="3F99C9"/>
              </a:solidFill>
              <a:latin typeface="Noto Sans CJK SC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7891271" y="2587752"/>
            <a:ext cx="146304" cy="0"/>
          </a:xfrm>
          <a:prstGeom prst="line">
            <a:avLst/>
          </a:prstGeom>
          <a:ln w="20320">
            <a:solidFill>
              <a:srgbClr val="13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65008" y="1627632"/>
            <a:ext cx="3547872" cy="1938528"/>
          </a:xfrm>
          <a:prstGeom prst="roundRect">
            <a:avLst>
              <a:gd name="adj" fmla="val 12000"/>
            </a:avLst>
          </a:prstGeom>
          <a:solidFill>
            <a:srgbClr val="FBF4E9"/>
          </a:solidFill>
          <a:ln w="10160"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600" y="1783080"/>
            <a:ext cx="713232" cy="256032"/>
          </a:xfrm>
          <a:prstGeom prst="roundRect">
            <a:avLst>
              <a:gd name="adj" fmla="val 12000"/>
            </a:avLst>
          </a:prstGeom>
          <a:solidFill>
            <a:srgbClr val="D99A36"/>
          </a:solidFill>
          <a:ln w="6350">
            <a:solidFill>
              <a:srgbClr val="D99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57031" y="1787651"/>
            <a:ext cx="658368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 CJK SC"/>
              </a:rPr>
              <a:t>阶段三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130552"/>
            <a:ext cx="3182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B45"/>
                </a:solidFill>
                <a:latin typeface="Noto Sans CJK SC"/>
              </a:rPr>
              <a:t>实验验证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542032"/>
            <a:ext cx="3182112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 err="1">
                <a:solidFill>
                  <a:srgbClr val="203247"/>
                </a:solidFill>
                <a:latin typeface="Noto Sans CJK SC"/>
              </a:rPr>
              <a:t>固定任务、版本与预算</a:t>
            </a:r>
            <a:r>
              <a:rPr sz="1100" b="0" i="0" dirty="0">
                <a:solidFill>
                  <a:srgbClr val="203247"/>
                </a:solidFill>
                <a:latin typeface="Noto Sans CJK SC"/>
              </a:rPr>
              <a:t>
</a:t>
            </a:r>
            <a:r>
              <a:rPr sz="1100" b="0" i="0" dirty="0" err="1">
                <a:solidFill>
                  <a:srgbClr val="203247"/>
                </a:solidFill>
                <a:latin typeface="Noto Sans CJK SC"/>
              </a:rPr>
              <a:t>单变量对照</a:t>
            </a:r>
            <a:r>
              <a:rPr sz="1100" b="0" i="0" dirty="0">
                <a:solidFill>
                  <a:srgbClr val="203247"/>
                </a:solidFill>
                <a:latin typeface="Noto Sans CJK SC"/>
              </a:rPr>
              <a:t> / </a:t>
            </a:r>
            <a:r>
              <a:rPr sz="1100" b="0" i="0" dirty="0" err="1">
                <a:solidFill>
                  <a:srgbClr val="203247"/>
                </a:solidFill>
                <a:latin typeface="Noto Sans CJK SC"/>
              </a:rPr>
              <a:t>组合回归</a:t>
            </a:r>
            <a:r>
              <a:rPr sz="1100" b="0" i="0" dirty="0">
                <a:solidFill>
                  <a:srgbClr val="203247"/>
                </a:solidFill>
                <a:latin typeface="Noto Sans CJK SC"/>
              </a:rPr>
              <a:t>
</a:t>
            </a:r>
            <a:r>
              <a:rPr sz="1100" b="0" i="0" dirty="0" err="1">
                <a:solidFill>
                  <a:srgbClr val="203247"/>
                </a:solidFill>
                <a:latin typeface="Noto Sans CJK SC"/>
              </a:rPr>
              <a:t>最终双环境复验与报告</a:t>
            </a:r>
            <a:endParaRPr sz="1100" b="0" i="0" dirty="0">
              <a:solidFill>
                <a:srgbClr val="203247"/>
              </a:solidFill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9600" y="3292620"/>
            <a:ext cx="318211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dirty="0" err="1">
                <a:solidFill>
                  <a:srgbClr val="D99A36"/>
                </a:solidFill>
                <a:latin typeface="Noto Sans CJK SC"/>
              </a:rPr>
              <a:t>实验方案已形成；效果实验待执行</a:t>
            </a:r>
            <a:endParaRPr sz="1000" b="1" i="0" dirty="0">
              <a:solidFill>
                <a:srgbClr val="D99A36"/>
              </a:solidFill>
              <a:latin typeface="Noto Sans CJK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3504" y="3824197"/>
            <a:ext cx="3657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 err="1">
                <a:solidFill>
                  <a:srgbClr val="142B45"/>
                </a:solidFill>
                <a:latin typeface="Noto Sans CJK SC"/>
              </a:rPr>
              <a:t>迭代闭环</a:t>
            </a:r>
            <a:endParaRPr sz="1400" b="1" i="0" dirty="0">
              <a:solidFill>
                <a:srgbClr val="142B45"/>
              </a:solidFill>
              <a:latin typeface="Noto Sans CJK SC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66928" y="4151376"/>
            <a:ext cx="1847088" cy="58521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 w="12700">
            <a:solidFill>
              <a:srgbClr val="477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" y="4308830"/>
            <a:ext cx="171907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 err="1">
                <a:solidFill>
                  <a:srgbClr val="142B45"/>
                </a:solidFill>
                <a:latin typeface="Noto Sans CJK SC"/>
              </a:rPr>
              <a:t>轨迹定位</a:t>
            </a:r>
            <a:endParaRPr sz="1400" b="1" i="0" dirty="0">
              <a:solidFill>
                <a:srgbClr val="142B45"/>
              </a:solidFill>
              <a:latin typeface="Noto Sans CJK SC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2432304" y="4443984"/>
            <a:ext cx="320040" cy="0"/>
          </a:xfrm>
          <a:prstGeom prst="line">
            <a:avLst/>
          </a:prstGeom>
          <a:ln w="15240">
            <a:solidFill>
              <a:srgbClr val="5F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825496" y="4151376"/>
            <a:ext cx="1847088" cy="58521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 w="12700">
            <a:solidFill>
              <a:srgbClr val="13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89504" y="4308830"/>
            <a:ext cx="171907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 err="1">
                <a:solidFill>
                  <a:srgbClr val="142B45"/>
                </a:solidFill>
                <a:latin typeface="Noto Sans CJK SC"/>
              </a:rPr>
              <a:t>失败复现</a:t>
            </a:r>
            <a:endParaRPr sz="1400" b="1" i="0" dirty="0">
              <a:solidFill>
                <a:srgbClr val="142B45"/>
              </a:solidFill>
              <a:latin typeface="Noto Sans CJK SC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4690872" y="4443984"/>
            <a:ext cx="320040" cy="0"/>
          </a:xfrm>
          <a:prstGeom prst="line">
            <a:avLst/>
          </a:prstGeom>
          <a:ln w="15240">
            <a:solidFill>
              <a:srgbClr val="5F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084064" y="4151376"/>
            <a:ext cx="1847088" cy="58521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 w="12700">
            <a:solidFill>
              <a:srgbClr val="3F9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48072" y="4308830"/>
            <a:ext cx="171907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 err="1">
                <a:solidFill>
                  <a:srgbClr val="142B45"/>
                </a:solidFill>
                <a:latin typeface="Noto Sans CJK SC"/>
              </a:rPr>
              <a:t>最小修改</a:t>
            </a:r>
            <a:endParaRPr sz="1400" b="1" i="0" dirty="0">
              <a:solidFill>
                <a:srgbClr val="142B45"/>
              </a:solidFill>
              <a:latin typeface="Noto Sans CJK SC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949440" y="4443984"/>
            <a:ext cx="320040" cy="0"/>
          </a:xfrm>
          <a:prstGeom prst="line">
            <a:avLst/>
          </a:prstGeom>
          <a:ln w="15240">
            <a:solidFill>
              <a:srgbClr val="5F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342631" y="4151376"/>
            <a:ext cx="1847088" cy="58521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 w="12700">
            <a:solidFill>
              <a:srgbClr val="D99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06640" y="4308830"/>
            <a:ext cx="171907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 err="1">
                <a:solidFill>
                  <a:srgbClr val="142B45"/>
                </a:solidFill>
                <a:latin typeface="Noto Sans CJK SC"/>
              </a:rPr>
              <a:t>单变量比较</a:t>
            </a:r>
            <a:endParaRPr sz="1400" b="1" i="0" dirty="0">
              <a:solidFill>
                <a:srgbClr val="142B45"/>
              </a:solidFill>
              <a:latin typeface="Noto Sans CJK SC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9208008" y="4443984"/>
            <a:ext cx="320040" cy="0"/>
          </a:xfrm>
          <a:prstGeom prst="line">
            <a:avLst/>
          </a:prstGeom>
          <a:ln w="15240">
            <a:solidFill>
              <a:srgbClr val="5F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601200" y="4151376"/>
            <a:ext cx="1847088" cy="58521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 w="12700">
            <a:solidFill>
              <a:srgbClr val="3C9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65208" y="4308830"/>
            <a:ext cx="171907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 err="1">
                <a:solidFill>
                  <a:srgbClr val="142B45"/>
                </a:solidFill>
                <a:latin typeface="Noto Sans CJK SC"/>
              </a:rPr>
              <a:t>任务回归</a:t>
            </a:r>
            <a:endParaRPr sz="1400" b="1" i="0" dirty="0">
              <a:solidFill>
                <a:srgbClr val="142B45"/>
              </a:solidFill>
              <a:latin typeface="Noto Sans CJK SC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66928" y="4983480"/>
            <a:ext cx="5422392" cy="1060704"/>
          </a:xfrm>
          <a:prstGeom prst="roundRect">
            <a:avLst>
              <a:gd name="adj" fmla="val 12000"/>
            </a:avLst>
          </a:prstGeom>
          <a:solidFill>
            <a:srgbClr val="142B45"/>
          </a:solidFill>
          <a:ln w="10160">
            <a:solidFill>
              <a:srgbClr val="14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8096" y="5141157"/>
            <a:ext cx="138988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dirty="0" err="1">
                <a:solidFill>
                  <a:srgbClr val="9CDCD6"/>
                </a:solidFill>
                <a:latin typeface="Noto Sans CJK SC"/>
              </a:rPr>
              <a:t>开发协作</a:t>
            </a:r>
            <a:endParaRPr sz="1100" b="1" i="0" dirty="0">
              <a:solidFill>
                <a:srgbClr val="9CDCD6"/>
              </a:solidFill>
              <a:latin typeface="Noto Sans CJK SC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022715" y="5224584"/>
            <a:ext cx="361188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 err="1">
                <a:solidFill>
                  <a:srgbClr val="FFFFFF"/>
                </a:solidFill>
                <a:latin typeface="Noto Sans CJK SC"/>
              </a:rPr>
              <a:t>DSH：限定文件范围的模块实现与离线测试</a:t>
            </a:r>
            <a:r>
              <a:rPr sz="1400" b="0" i="0" dirty="0">
                <a:solidFill>
                  <a:srgbClr val="FFFFFF"/>
                </a:solidFill>
                <a:latin typeface="Noto Sans CJK SC"/>
              </a:rPr>
              <a:t>
</a:t>
            </a:r>
            <a:r>
              <a:rPr sz="1400" b="0" i="0" dirty="0" err="1">
                <a:solidFill>
                  <a:srgbClr val="FFFFFF"/>
                </a:solidFill>
                <a:latin typeface="Noto Sans CJK SC"/>
              </a:rPr>
              <a:t>主线程：接口冻结、集成复核、真实环境验收</a:t>
            </a:r>
            <a:r>
              <a:rPr sz="1400" b="0" i="0" dirty="0">
                <a:solidFill>
                  <a:srgbClr val="FFFFFF"/>
                </a:solidFill>
                <a:latin typeface="Noto Sans CJK SC"/>
              </a:rPr>
              <a:t>
</a:t>
            </a:r>
            <a:r>
              <a:rPr sz="1400" b="0" i="0" dirty="0" err="1">
                <a:solidFill>
                  <a:srgbClr val="FFFFFF"/>
                </a:solidFill>
                <a:latin typeface="Noto Sans CJK SC"/>
              </a:rPr>
              <a:t>共享入口与配置由单一集成者顺序合并</a:t>
            </a:r>
            <a:r>
              <a:rPr sz="1400" b="0" i="0" dirty="0">
                <a:solidFill>
                  <a:srgbClr val="FFFFFF"/>
                </a:solidFill>
                <a:latin typeface="Noto Sans CJK SC"/>
              </a:rPr>
              <a:t>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4983480"/>
            <a:ext cx="5440680" cy="1060704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73368" y="5141157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dirty="0" err="1">
                <a:solidFill>
                  <a:srgbClr val="13A6A0"/>
                </a:solidFill>
                <a:latin typeface="Noto Sans CJK SC"/>
              </a:rPr>
              <a:t>评价维度</a:t>
            </a:r>
            <a:endParaRPr sz="1100" b="1" i="0" dirty="0">
              <a:solidFill>
                <a:srgbClr val="13A6A0"/>
              </a:solidFill>
              <a:latin typeface="Noto Sans CJK SC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64563" y="5206296"/>
            <a:ext cx="358444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 err="1">
                <a:solidFill>
                  <a:srgbClr val="203247"/>
                </a:solidFill>
                <a:latin typeface="Noto Sans CJK SC"/>
              </a:rPr>
              <a:t>完整完成率与约束遵循</a:t>
            </a:r>
            <a:r>
              <a:rPr sz="1400" b="0" i="0" dirty="0">
                <a:solidFill>
                  <a:srgbClr val="203247"/>
                </a:solidFill>
                <a:latin typeface="Noto Sans CJK SC"/>
              </a:rPr>
              <a:t>  ·  </a:t>
            </a:r>
            <a:r>
              <a:rPr sz="1400" b="0" i="0" dirty="0" err="1">
                <a:solidFill>
                  <a:srgbClr val="203247"/>
                </a:solidFill>
                <a:latin typeface="Noto Sans CJK SC"/>
              </a:rPr>
              <a:t>完成时间</a:t>
            </a:r>
            <a:r>
              <a:rPr sz="1400" b="0" i="0" dirty="0">
                <a:solidFill>
                  <a:srgbClr val="203247"/>
                </a:solidFill>
                <a:latin typeface="Noto Sans CJK SC"/>
              </a:rPr>
              <a:t>
</a:t>
            </a:r>
            <a:r>
              <a:rPr sz="1400" b="0" i="0" dirty="0" err="1">
                <a:solidFill>
                  <a:srgbClr val="203247"/>
                </a:solidFill>
                <a:latin typeface="Noto Sans CJK SC"/>
              </a:rPr>
              <a:t>操控质量与无效操作</a:t>
            </a:r>
            <a:r>
              <a:rPr sz="1400" b="0" i="0" dirty="0">
                <a:solidFill>
                  <a:srgbClr val="203247"/>
                </a:solidFill>
                <a:latin typeface="Noto Sans CJK SC"/>
              </a:rPr>
              <a:t>  ·  </a:t>
            </a:r>
            <a:r>
              <a:rPr sz="1400" b="0" i="0" dirty="0" err="1">
                <a:solidFill>
                  <a:srgbClr val="203247"/>
                </a:solidFill>
                <a:latin typeface="Noto Sans CJK SC"/>
              </a:rPr>
              <a:t>模型调用</a:t>
            </a:r>
            <a:r>
              <a:rPr sz="1400" b="0" i="0" dirty="0">
                <a:solidFill>
                  <a:srgbClr val="203247"/>
                </a:solidFill>
                <a:latin typeface="Noto Sans CJK SC"/>
              </a:rPr>
              <a:t> / token / </a:t>
            </a:r>
            <a:r>
              <a:rPr sz="1400" b="0" i="0" dirty="0" err="1">
                <a:solidFill>
                  <a:srgbClr val="203247"/>
                </a:solidFill>
                <a:latin typeface="Noto Sans CJK SC"/>
              </a:rPr>
              <a:t>成本</a:t>
            </a:r>
            <a:r>
              <a:rPr sz="1400" b="0" i="0" dirty="0">
                <a:solidFill>
                  <a:srgbClr val="203247"/>
                </a:solidFill>
                <a:latin typeface="Noto Sans CJK SC"/>
              </a:rPr>
              <a:t>
</a:t>
            </a:r>
            <a:r>
              <a:rPr sz="1400" b="0" i="0" dirty="0" err="1">
                <a:solidFill>
                  <a:srgbClr val="203247"/>
                </a:solidFill>
                <a:latin typeface="Noto Sans CJK SC"/>
              </a:rPr>
              <a:t>真实端另计人工时间，并对照串行与并行</a:t>
            </a:r>
            <a:r>
              <a:rPr sz="1400" b="0" i="0" dirty="0">
                <a:solidFill>
                  <a:srgbClr val="203247"/>
                </a:solidFill>
                <a:latin typeface="Noto Sans CJK SC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406</Words>
  <Application>Microsoft Office PowerPoint</Application>
  <PresentationFormat>宽屏</PresentationFormat>
  <Paragraphs>88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Noto Sans CJK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思旭 陈</cp:lastModifiedBy>
  <cp:revision>2</cp:revision>
  <dcterms:created xsi:type="dcterms:W3CDTF">2013-01-27T09:14:16Z</dcterms:created>
  <dcterms:modified xsi:type="dcterms:W3CDTF">2026-10-31T01:16:05Z</dcterms:modified>
  <cp:category/>
</cp:coreProperties>
</file>