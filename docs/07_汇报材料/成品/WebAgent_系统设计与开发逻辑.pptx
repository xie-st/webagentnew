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d2ecc4ba7c4992" /><Relationship Type="http://schemas.openxmlformats.org/officeDocument/2006/relationships/extended-properties" Target="/docProps/app.xml" Id="Rfdae5e0a76404e5e" /><Relationship Type="http://schemas.openxmlformats.org/officeDocument/2006/relationships/officeDocument" Target="/ppt/presentation.xml" Id="R09893462a01f48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b1835da4364312"/>
  </p:sldMasterIdLst>
  <p:notesMasterIdLst>
    <p:notesMasterId xmlns:r="http://schemas.openxmlformats.org/officeDocument/2006/relationships" r:id="R13ebf73e59654194"/>
  </p:notesMasterIdLst>
  <p:sldIdLst>
    <p:sldId xmlns:r="http://schemas.openxmlformats.org/officeDocument/2006/relationships" id="256" r:id="R9424a2451e5e4890"/>
    <p:sldId xmlns:r="http://schemas.openxmlformats.org/officeDocument/2006/relationships" id="257" r:id="Rb79914bc632345a0"/>
    <p:sldId xmlns:r="http://schemas.openxmlformats.org/officeDocument/2006/relationships" id="258" r:id="R07c160381c0c4c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588f3bc85a47b3" /><Relationship Type="http://schemas.openxmlformats.org/officeDocument/2006/relationships/slideMaster" Target="/ppt/slideMasters/slideMaster1.xml" Id="Rfeb1835da4364312" /><Relationship Type="http://schemas.openxmlformats.org/officeDocument/2006/relationships/notesMaster" Target="/ppt/notesMasters/notesMaster1.xml" Id="R13ebf73e59654194" /><Relationship Type="http://schemas.openxmlformats.org/officeDocument/2006/relationships/presProps" Target="/ppt/presProps.xml" Id="R2aefc874b657482a" /><Relationship Type="http://schemas.openxmlformats.org/officeDocument/2006/relationships/tableStyles" Target="/ppt/tableStyles.xml" Id="R1d6748d95532499e" /><Relationship Type="http://schemas.openxmlformats.org/officeDocument/2006/relationships/slide" Target="/ppt/slides/slide1.xml" Id="R9424a2451e5e4890" /><Relationship Type="http://schemas.openxmlformats.org/officeDocument/2006/relationships/slide" Target="/ppt/slides/slide2.xml" Id="Rb79914bc632345a0" /><Relationship Type="http://schemas.openxmlformats.org/officeDocument/2006/relationships/slide" Target="/ppt/slides/slide3.xml" Id="R07c160381c0c4c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5a3133e42b4d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90f5b70111431c" /><Relationship Type="http://schemas.openxmlformats.org/officeDocument/2006/relationships/notesMaster" Target="/ppt/notesMasters/notesMaster1.xml" Id="Rd01da8ebfab34a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1079e0361a4d61" /><Relationship Type="http://schemas.openxmlformats.org/officeDocument/2006/relationships/notesMaster" Target="/ppt/notesMasters/notesMaster1.xml" Id="R6ca9fbb827dc44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d99a09f2664a8e" /><Relationship Type="http://schemas.openxmlformats.org/officeDocument/2006/relationships/notesMaster" Target="/ppt/notesMasters/notesMaster1.xml" Id="Rf163c682a3644d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来源：本项目RoadMap；阶段二实施说明。图：ImageGen，docs/07_汇报材料/配图/01_整体架构_待审.png。按已确认设计介绍，阶段顺序不表示全部完成。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来源：本项目阶段二实施说明（已确认修订）。图：ImageGen，docs/07_汇报材料/配图/02_任务核验_待审.png。按已确认设计介绍，阶段顺序不表示全部完成。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来源：本项目总路线；第三阶段实验清单。图：ImageGen，docs/07_汇报材料/配图/03_开发路线_待审.png。按已确认设计介绍，阶段顺序不表示全部完成。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6bc13cc36d4ce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e23698e91c4b5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beb5d826cb4e0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2401de295c489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4a65a516ad48d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2de256736b43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FAECCC-702E-4E2B-921F-E7AB950C61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BE66168-9B63-4884-8921-8C9543C502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7D86BA4-8F0C-4C0E-8A46-C910AC630D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8A5C3E-418C-4BA5-9602-5A7A9B1A8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FDA5291-C660-4D8E-9658-C5147A17C1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EB12830-CFDD-4D3B-91CD-FBD64FC40F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DE33CE5-3643-4DF1-AA3A-DB14103BBF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D54024E-765D-4012-B80C-1682B17B1FC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595FFA-BECA-4C4A-BF32-CA8902C298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7E25ED1-ADA5-4EFE-A7BC-9290558CF1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91c029fb684384" /><Relationship Type="http://schemas.openxmlformats.org/officeDocument/2006/relationships/slideLayout" Target="/ppt/slideLayouts/slideLayout1.xml" Id="Rd345dbd745a54ae5" /><Relationship Type="http://schemas.openxmlformats.org/officeDocument/2006/relationships/slideLayout" Target="/ppt/slideLayouts/slideLayout2.xml" Id="R9ebf6c811b7645e0" /><Relationship Type="http://schemas.openxmlformats.org/officeDocument/2006/relationships/slideLayout" Target="/ppt/slideLayouts/slideLayout3.xml" Id="R8304084f692e4cec" /><Relationship Type="http://schemas.openxmlformats.org/officeDocument/2006/relationships/slideLayout" Target="/ppt/slideLayouts/slideLayout4.xml" Id="R9a8f39a2aed84863" /><Relationship Type="http://schemas.openxmlformats.org/officeDocument/2006/relationships/slideLayout" Target="/ppt/slideLayouts/slideLayout5.xml" Id="R14dedaa067d347d0" /><Relationship Type="http://schemas.openxmlformats.org/officeDocument/2006/relationships/slideLayout" Target="/ppt/slideLayouts/slideLayout6.xml" Id="Rcb27bbedb8bd47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45dbd745a54ae5"/>
    <p:sldLayoutId xmlns:r="http://schemas.openxmlformats.org/officeDocument/2006/relationships" id="2147483650" r:id="R9ebf6c811b7645e0"/>
    <p:sldLayoutId xmlns:r="http://schemas.openxmlformats.org/officeDocument/2006/relationships" id="2147483651" r:id="R8304084f692e4cec"/>
    <p:sldLayoutId xmlns:r="http://schemas.openxmlformats.org/officeDocument/2006/relationships" id="2147483652" r:id="R9a8f39a2aed84863"/>
    <p:sldLayoutId xmlns:r="http://schemas.openxmlformats.org/officeDocument/2006/relationships" id="2147483653" r:id="R14dedaa067d347d0"/>
    <p:sldLayoutId xmlns:r="http://schemas.openxmlformats.org/officeDocument/2006/relationships" id="2147483654" r:id="Rcb27bbedb8bd47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16668858374faa" /><Relationship Type="http://schemas.openxmlformats.org/officeDocument/2006/relationships/image" Target="/ppt/media/image.png" Id="Rf7e16d7f38dd49da" /><Relationship Type="http://schemas.openxmlformats.org/officeDocument/2006/relationships/notesSlide" Target="/ppt/notesSlides/notesSlide1.xml" Id="R1de5e268a3d649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d3bfb61ed04db2" /><Relationship Type="http://schemas.openxmlformats.org/officeDocument/2006/relationships/image" Target="/ppt/media/image2.png" Id="R1fe3c76c92af4ac4" /><Relationship Type="http://schemas.openxmlformats.org/officeDocument/2006/relationships/notesSlide" Target="/ppt/notesSlides/notesSlide2.xml" Id="R6440a19cd4fd4d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01bf69aeb9469b" /><Relationship Type="http://schemas.openxmlformats.org/officeDocument/2006/relationships/image" Target="/ppt/media/image3.png" Id="R3b7ac5e3d402476f" /><Relationship Type="http://schemas.openxmlformats.org/officeDocument/2006/relationships/notesSlide" Target="/ppt/notesSlides/notesSlide3.xml" Id="Ra47152690e1d4d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04C4B8B-D004-46F2-8516-C6DBCFFA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118616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000000"/>
                </a:solidFill>
                <a:latin typeface="SimSun"/>
                <a:ea typeface="SimSun"/>
                <a:cs typeface="SimSun"/>
              </a:rPr>
              <a:t>整体架构</a:t>
            </a:r>
          </a:p>
        </p:txBody>
      </p:sp>
      <p:sp>
        <p:nvSpPr>
          <p:cNvPr id="3" name="left-subtitle">
            <a:extLst xmlns:a="http://schemas.openxmlformats.org/drawingml/2006/main">
              <a:ext uri="{FF2B5EF4-FFF2-40B4-BE49-F238E27FC236}">
                <a16:creationId xmlns:a16="http://schemas.microsoft.com/office/drawing/2014/main" id="{DA74CE24-0C80-4503-A55E-EE21F6CD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42023"/>
            <a:ext cx="64922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3B78C3"/>
                </a:solidFill>
                <a:latin typeface="SimSun"/>
                <a:ea typeface="SimSun"/>
                <a:cs typeface="SimSun"/>
              </a:rPr>
              <a:t>双环境执行架构</a:t>
            </a:r>
          </a:p>
        </p:txBody>
      </p:sp>
      <p:sp>
        <p:nvSpPr>
          <p:cNvPr id="4" name="right-subtitle">
            <a:extLst xmlns:a="http://schemas.openxmlformats.org/drawingml/2006/main">
              <a:ext uri="{FF2B5EF4-FFF2-40B4-BE49-F238E27FC236}">
                <a16:creationId xmlns:a16="http://schemas.microsoft.com/office/drawing/2014/main" id="{337C4066-4860-4E88-BF59-E61064F9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942023"/>
            <a:ext cx="43281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3B78C3"/>
                </a:solidFill>
                <a:latin typeface="SimSun"/>
                <a:ea typeface="SimSun"/>
                <a:cs typeface="SimSun"/>
              </a:rPr>
              <a:t>关键设计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4040207-F65C-463A-BF05-572628B3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503"/>
            <a:ext cx="11186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CFCFCF"/>
            </a:solidFill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B05D4-1DC7-45FA-8835-E9353F62BB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e16d7f38dd49da"/>
          <a:stretch xmlns:a="http://schemas.openxmlformats.org/drawingml/2006/main"/>
        </p:blipFill>
        <p:spPr>
          <a:xfrm xmlns:a="http://schemas.openxmlformats.org/drawingml/2006/main">
            <a:off x="512859" y="1627823"/>
            <a:ext cx="6472362" cy="3840480"/>
          </a:xfrm>
          <a:prstGeom xmlns:a="http://schemas.openxmlformats.org/drawingml/2006/main" prst="rect">
            <a:avLst/>
          </a:prstGeom>
        </p:spPr>
      </p:pic>
      <p:sp>
        <p:nvSpPr>
          <p:cNvPr id="7" name="group-heading-0">
            <a:extLst xmlns:a="http://schemas.openxmlformats.org/drawingml/2006/main">
              <a:ext uri="{FF2B5EF4-FFF2-40B4-BE49-F238E27FC236}">
                <a16:creationId xmlns:a16="http://schemas.microsoft.com/office/drawing/2014/main" id="{A4DB7098-F650-4218-A6B0-4F547BF8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685925"/>
            <a:ext cx="432816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3B78C3"/>
                </a:solidFill>
                <a:latin typeface="SimSun"/>
                <a:ea typeface="SimSun"/>
                <a:cs typeface="SimSun"/>
              </a:rPr>
              <a:t>职责分工</a:t>
            </a:r>
          </a:p>
        </p:txBody>
      </p:sp>
      <p:sp>
        <p:nvSpPr>
          <p:cNvPr id="8" name="group-body-0">
            <a:extLst xmlns:a="http://schemas.openxmlformats.org/drawingml/2006/main">
              <a:ext uri="{FF2B5EF4-FFF2-40B4-BE49-F238E27FC236}">
                <a16:creationId xmlns:a16="http://schemas.microsoft.com/office/drawing/2014/main" id="{8C61D8FE-D707-4B54-ADAD-EDB81E43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066925"/>
            <a:ext cx="432816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EffGen</a:t>
            </a:r>
            <a:r>
              <a:rPr sz="16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规划决策</a:t>
            </a:r>
          </a:p>
          <a:p xmlns:a="http://schemas.openxmlformats.org/drawingml/2006/main">
            <a: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程序执行与校验</a:t>
            </a:r>
          </a:p>
        </p:txBody>
      </p:sp>
      <p:sp>
        <p:nvSpPr>
          <p:cNvPr id="9" name="group-heading-1">
            <a:extLst xmlns:a="http://schemas.openxmlformats.org/drawingml/2006/main">
              <a:ext uri="{FF2B5EF4-FFF2-40B4-BE49-F238E27FC236}">
                <a16:creationId xmlns:a16="http://schemas.microsoft.com/office/drawing/2014/main" id="{07FF78D6-1276-492B-AE6F-D6E1A207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924175"/>
            <a:ext cx="432816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3B78C3"/>
                </a:solidFill>
                <a:latin typeface="SimSun"/>
                <a:ea typeface="SimSun"/>
                <a:cs typeface="SimSun"/>
              </a:rPr>
              <a:t>统一接口</a:t>
            </a:r>
          </a:p>
        </p:txBody>
      </p:sp>
      <p:sp>
        <p:nvSpPr>
          <p:cNvPr id="10" name="group-body-1">
            <a:extLst xmlns:a="http://schemas.openxmlformats.org/drawingml/2006/main">
              <a:ext uri="{FF2B5EF4-FFF2-40B4-BE49-F238E27FC236}">
                <a16:creationId xmlns:a16="http://schemas.microsoft.com/office/drawing/2014/main" id="{5FB4767F-9BDC-4738-8278-1D5FE1B5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305175"/>
            <a:ext cx="432816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统一动作与观察</a:t>
            </a:r>
          </a:p>
          <a:p xmlns:a="http://schemas.openxmlformats.org/drawingml/2006/main">
            <a: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后端转换环境协议</a:t>
            </a:r>
          </a:p>
        </p:txBody>
      </p:sp>
      <p:sp>
        <p:nvSpPr>
          <p:cNvPr id="11" name="group-heading-2">
            <a:extLst xmlns:a="http://schemas.openxmlformats.org/drawingml/2006/main">
              <a:ext uri="{FF2B5EF4-FFF2-40B4-BE49-F238E27FC236}">
                <a16:creationId xmlns:a16="http://schemas.microsoft.com/office/drawing/2014/main" id="{9344826C-A806-4FFE-A418-18DFADA6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4162425"/>
            <a:ext cx="432816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3B78C3"/>
                </a:solidFill>
                <a:latin typeface="SimSun"/>
                <a:ea typeface="SimSun"/>
                <a:cs typeface="SimSun"/>
              </a:rPr>
              <a:t>可暂停循环</a:t>
            </a:r>
          </a:p>
        </p:txBody>
      </p:sp>
      <p:sp>
        <p:nvSpPr>
          <p:cNvPr id="12" name="group-body-2">
            <a:extLst xmlns:a="http://schemas.openxmlformats.org/drawingml/2006/main">
              <a:ext uri="{FF2B5EF4-FFF2-40B4-BE49-F238E27FC236}">
                <a16:creationId xmlns:a16="http://schemas.microsoft.com/office/drawing/2014/main" id="{2D915FBE-07DF-4812-95CC-92A2143E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4543425"/>
            <a:ext cx="432816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交出网页动作</a:t>
            </a:r>
          </a:p>
          <a:p xmlns:a="http://schemas.openxmlformats.org/drawingml/2006/main">
            <a: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收到新观察后继续</a:t>
            </a:r>
          </a:p>
        </p:txBody>
      </p:sp>
      <p:sp>
        <p:nvSpPr>
          <p:cNvPr id="13" name="takeaway">
            <a:extLst xmlns:a="http://schemas.openxmlformats.org/drawingml/2006/main">
              <a:ext uri="{FF2B5EF4-FFF2-40B4-BE49-F238E27FC236}">
                <a16:creationId xmlns:a16="http://schemas.microsoft.com/office/drawing/2014/main" id="{AAB33070-5415-433E-959C-35D29ED4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15965"/>
            <a:ext cx="111861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7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7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7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7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7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7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7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7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7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同一执行循环，连接官方平台与真实浏览器</a:t>
            </a:r>
          </a:p>
        </p:txBody>
      </p:sp>
      <p:sp>
        <p:nvSpPr>
          <p:cNvPr id="1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BB5775F-719B-4B0D-B96F-B462AC08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0"/>
            <a:ext cx="11186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CFCFCF"/>
            </a:solidFill>
            <a:prstDash val="solid"/>
          </a:ln>
        </p:spPr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65F827C8-45E1-4273-A1E9-CB20E196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863"/>
            <a:ext cx="992124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7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勇攀高峰</a:t>
            </a:r>
            <a:r>
              <a:rPr sz="7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rPr>
              <a:t> · Web Agent </a:t>
            </a:r>
            <a:r>
              <a:rPr sz="70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系统设计</a:t>
            </a:r>
          </a:p>
        </p:txBody>
      </p:sp>
      <p:sp>
        <p:nvSpPr>
          <p:cNvPr id="1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0FF8462-9704-469F-B4DB-564C9EE6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7583" y="6474143"/>
            <a:ext cx="54864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0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0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0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0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0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0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0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0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0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defRPr sz="10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71515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270CC90-739E-4875-ABF2-42282691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118616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000000"/>
                </a:solidFill>
                <a:latin typeface="SimSun"/>
                <a:ea typeface="SimSun"/>
                <a:cs typeface="SimSun"/>
              </a:rPr>
              <a:t>任务执行与容错</a:t>
            </a:r>
          </a:p>
        </p:txBody>
      </p:sp>
      <p:sp>
        <p:nvSpPr>
          <p:cNvPr id="3" name="left-subtitle">
            <a:extLst xmlns:a="http://schemas.openxmlformats.org/drawingml/2006/main">
              <a:ext uri="{FF2B5EF4-FFF2-40B4-BE49-F238E27FC236}">
                <a16:creationId xmlns:a16="http://schemas.microsoft.com/office/drawing/2014/main" id="{D6D8808D-87EC-478F-B4DC-7030BA1F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42023"/>
            <a:ext cx="64922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3B78C3"/>
                </a:solidFill>
                <a:latin typeface="SimSun"/>
                <a:ea typeface="SimSun"/>
                <a:cs typeface="SimSun"/>
              </a:rPr>
              <a:t>执行与核验流程</a:t>
            </a:r>
          </a:p>
        </p:txBody>
      </p:sp>
      <p:sp>
        <p:nvSpPr>
          <p:cNvPr id="4" name="right-subtitle">
            <a:extLst xmlns:a="http://schemas.openxmlformats.org/drawingml/2006/main">
              <a:ext uri="{FF2B5EF4-FFF2-40B4-BE49-F238E27FC236}">
                <a16:creationId xmlns:a16="http://schemas.microsoft.com/office/drawing/2014/main" id="{936E24AA-BF23-47D2-9F1D-8242A52A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942023"/>
            <a:ext cx="43281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3B78C3"/>
                </a:solidFill>
                <a:latin typeface="SimSun"/>
                <a:ea typeface="SimSun"/>
                <a:cs typeface="SimSun"/>
              </a:rPr>
              <a:t>执行约束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FCD56162-286A-446F-BE99-6937D2D9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503"/>
            <a:ext cx="11186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CFCFCF"/>
            </a:solidFill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F23FBB-4A2E-408F-B5D3-49D5EF4D6A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e3c76c92af4ac4"/>
          <a:stretch xmlns:a="http://schemas.openxmlformats.org/drawingml/2006/main"/>
        </p:blipFill>
        <p:spPr>
          <a:xfrm xmlns:a="http://schemas.openxmlformats.org/drawingml/2006/main">
            <a:off x="518192" y="1627823"/>
            <a:ext cx="6461697" cy="3840480"/>
          </a:xfrm>
          <a:prstGeom xmlns:a="http://schemas.openxmlformats.org/drawingml/2006/main" prst="rect">
            <a:avLst/>
          </a:prstGeom>
        </p:spPr>
      </p:pic>
      <p:sp>
        <p:nvSpPr>
          <p:cNvPr id="7" name="group-heading-0">
            <a:extLst xmlns:a="http://schemas.openxmlformats.org/drawingml/2006/main">
              <a:ext uri="{FF2B5EF4-FFF2-40B4-BE49-F238E27FC236}">
                <a16:creationId xmlns:a16="http://schemas.microsoft.com/office/drawing/2014/main" id="{28855B8F-2500-4367-8E4F-66452683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685925"/>
            <a:ext cx="432816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3B78C3"/>
                </a:solidFill>
                <a:latin typeface="SimSun"/>
                <a:ea typeface="SimSun"/>
                <a:cs typeface="SimSun"/>
              </a:rPr>
              <a:t>任务状态</a:t>
            </a:r>
          </a:p>
        </p:txBody>
      </p:sp>
      <p:sp>
        <p:nvSpPr>
          <p:cNvPr id="8" name="group-body-0">
            <a:extLst xmlns:a="http://schemas.openxmlformats.org/drawingml/2006/main">
              <a:ext uri="{FF2B5EF4-FFF2-40B4-BE49-F238E27FC236}">
                <a16:creationId xmlns:a16="http://schemas.microsoft.com/office/drawing/2014/main" id="{F9F40FE6-9F30-4E2E-B0EB-F56FC7C5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066925"/>
            <a:ext cx="432816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目标、事实、进度与证据</a:t>
            </a:r>
          </a:p>
        </p:txBody>
      </p:sp>
      <p:sp>
        <p:nvSpPr>
          <p:cNvPr id="9" name="group-heading-1">
            <a:extLst xmlns:a="http://schemas.openxmlformats.org/drawingml/2006/main">
              <a:ext uri="{FF2B5EF4-FFF2-40B4-BE49-F238E27FC236}">
                <a16:creationId xmlns:a16="http://schemas.microsoft.com/office/drawing/2014/main" id="{B4977376-C0AE-4BCF-9764-FCD10DFC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924175"/>
            <a:ext cx="432816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3B78C3"/>
                </a:solidFill>
                <a:latin typeface="SimSun"/>
                <a:ea typeface="SimSun"/>
                <a:cs typeface="SimSun"/>
              </a:rPr>
              <a:t>人工接管</a:t>
            </a:r>
          </a:p>
        </p:txBody>
      </p:sp>
      <p:sp>
        <p:nvSpPr>
          <p:cNvPr id="10" name="group-body-1">
            <a:extLst xmlns:a="http://schemas.openxmlformats.org/drawingml/2006/main">
              <a:ext uri="{FF2B5EF4-FFF2-40B4-BE49-F238E27FC236}">
                <a16:creationId xmlns:a16="http://schemas.microsoft.com/office/drawing/2014/main" id="{32BF908B-87ED-4C43-8C1A-0B6AC995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305175"/>
            <a:ext cx="432816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全局暂停</a:t>
            </a:r>
          </a:p>
          <a:p xmlns:a="http://schemas.openxmlformats.org/drawingml/2006/main">
            <a: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重新观察后继续</a:t>
            </a:r>
          </a:p>
        </p:txBody>
      </p:sp>
      <p:sp>
        <p:nvSpPr>
          <p:cNvPr id="11" name="group-heading-2">
            <a:extLst xmlns:a="http://schemas.openxmlformats.org/drawingml/2006/main">
              <a:ext uri="{FF2B5EF4-FFF2-40B4-BE49-F238E27FC236}">
                <a16:creationId xmlns:a16="http://schemas.microsoft.com/office/drawing/2014/main" id="{D031F5D4-74D5-42E9-89BB-3D830863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4162425"/>
            <a:ext cx="432816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3B78C3"/>
                </a:solidFill>
                <a:latin typeface="SimSun"/>
                <a:ea typeface="SimSun"/>
                <a:cs typeface="SimSun"/>
              </a:rPr>
              <a:t>受控并行</a:t>
            </a:r>
          </a:p>
        </p:txBody>
      </p:sp>
      <p:sp>
        <p:nvSpPr>
          <p:cNvPr id="12" name="group-body-2">
            <a:extLst xmlns:a="http://schemas.openxmlformats.org/drawingml/2006/main">
              <a:ext uri="{FF2B5EF4-FFF2-40B4-BE49-F238E27FC236}">
                <a16:creationId xmlns:a16="http://schemas.microsoft.com/office/drawing/2014/main" id="{30FBC749-C803-4FEB-B26C-8E3C0C48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4543425"/>
            <a:ext cx="432816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独立只读任务并行，共享写入串行</a:t>
            </a:r>
          </a:p>
          <a:p xmlns:a="http://schemas.openxmlformats.org/drawingml/2006/main">
            <a: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统一限流与预算</a:t>
            </a:r>
          </a:p>
        </p:txBody>
      </p:sp>
      <p:sp>
        <p:nvSpPr>
          <p:cNvPr id="13" name="takeaway">
            <a:extLst xmlns:a="http://schemas.openxmlformats.org/drawingml/2006/main">
              <a:ext uri="{FF2B5EF4-FFF2-40B4-BE49-F238E27FC236}">
                <a16:creationId xmlns:a16="http://schemas.microsoft.com/office/drawing/2014/main" id="{C73C78FD-9B49-4208-8442-42982CE8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15965"/>
            <a:ext cx="111861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7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7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7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7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7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7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7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7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7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依据证据确认进度，恢复时保留有效状态</a:t>
            </a:r>
          </a:p>
        </p:txBody>
      </p:sp>
      <p:sp>
        <p:nvSpPr>
          <p:cNvPr id="1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3B1AA20-7A3D-4D2F-B207-BAB7C738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0"/>
            <a:ext cx="11186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CFCFCF"/>
            </a:solidFill>
            <a:prstDash val="solid"/>
          </a:ln>
        </p:spPr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ABCCA721-A6B3-41A5-8A7B-D30717A7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863"/>
            <a:ext cx="992124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7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勇攀高峰</a:t>
            </a:r>
            <a:r>
              <a:rPr sz="7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rPr>
              <a:t> · Web Agent </a:t>
            </a:r>
            <a:r>
              <a:rPr sz="70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系统设计</a:t>
            </a:r>
          </a:p>
        </p:txBody>
      </p:sp>
      <p:sp>
        <p:nvSpPr>
          <p:cNvPr id="1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0A9AC07-08B2-4EC5-9515-A8A1829B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7583" y="6474143"/>
            <a:ext cx="54864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0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0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0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0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0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0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0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0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0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defRPr sz="10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182960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C91E37F-F1A1-4B76-8964-3A8C1D53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118616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000000"/>
                </a:solidFill>
                <a:latin typeface="SimSun"/>
                <a:ea typeface="SimSun"/>
                <a:cs typeface="SimSun"/>
              </a:rPr>
              <a:t>开发与验证逻辑</a:t>
            </a:r>
          </a:p>
        </p:txBody>
      </p:sp>
      <p:sp>
        <p:nvSpPr>
          <p:cNvPr id="3" name="left-subtitle">
            <a:extLst xmlns:a="http://schemas.openxmlformats.org/drawingml/2006/main">
              <a:ext uri="{FF2B5EF4-FFF2-40B4-BE49-F238E27FC236}">
                <a16:creationId xmlns:a16="http://schemas.microsoft.com/office/drawing/2014/main" id="{9DA4A71D-18C0-4B81-8A6E-23C3E78B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42023"/>
            <a:ext cx="64922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3B78C3"/>
                </a:solidFill>
                <a:latin typeface="SimSun"/>
                <a:ea typeface="SimSun"/>
                <a:cs typeface="SimSun"/>
              </a:rPr>
              <a:t>三阶段开发路线</a:t>
            </a:r>
          </a:p>
        </p:txBody>
      </p:sp>
      <p:sp>
        <p:nvSpPr>
          <p:cNvPr id="4" name="right-subtitle">
            <a:extLst xmlns:a="http://schemas.openxmlformats.org/drawingml/2006/main">
              <a:ext uri="{FF2B5EF4-FFF2-40B4-BE49-F238E27FC236}">
                <a16:creationId xmlns:a16="http://schemas.microsoft.com/office/drawing/2014/main" id="{7BC0AAD1-4E8C-44E3-909B-4347DE91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942023"/>
            <a:ext cx="43281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3B78C3"/>
                </a:solidFill>
                <a:latin typeface="SimSun"/>
                <a:ea typeface="SimSun"/>
                <a:cs typeface="SimSun"/>
              </a:rPr>
              <a:t>开发与验证方法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71EDE8B2-500A-4012-BC2A-DDAD163E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503"/>
            <a:ext cx="11186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CFCFCF"/>
            </a:solidFill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A9E9E-4E82-48BB-9901-D385761A05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7ac5e3d402476f"/>
          <a:stretch xmlns:a="http://schemas.openxmlformats.org/drawingml/2006/main"/>
        </p:blipFill>
        <p:spPr>
          <a:xfrm xmlns:a="http://schemas.openxmlformats.org/drawingml/2006/main">
            <a:off x="518192" y="1627823"/>
            <a:ext cx="6461697" cy="3840480"/>
          </a:xfrm>
          <a:prstGeom xmlns:a="http://schemas.openxmlformats.org/drawingml/2006/main" prst="rect">
            <a:avLst/>
          </a:prstGeom>
        </p:spPr>
      </p:pic>
      <p:sp>
        <p:nvSpPr>
          <p:cNvPr id="7" name="group-heading-0">
            <a:extLst xmlns:a="http://schemas.openxmlformats.org/drawingml/2006/main">
              <a:ext uri="{FF2B5EF4-FFF2-40B4-BE49-F238E27FC236}">
                <a16:creationId xmlns:a16="http://schemas.microsoft.com/office/drawing/2014/main" id="{B8872D4E-9F22-49D3-8AEA-72B621A8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685925"/>
            <a:ext cx="432816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3B78C3"/>
                </a:solidFill>
                <a:latin typeface="SimSun"/>
                <a:ea typeface="SimSun"/>
                <a:cs typeface="SimSun"/>
              </a:rPr>
              <a:t>设计依据</a:t>
            </a:r>
          </a:p>
        </p:txBody>
      </p:sp>
      <p:sp>
        <p:nvSpPr>
          <p:cNvPr id="8" name="group-body-0">
            <a:extLst xmlns:a="http://schemas.openxmlformats.org/drawingml/2006/main">
              <a:ext uri="{FF2B5EF4-FFF2-40B4-BE49-F238E27FC236}">
                <a16:creationId xmlns:a16="http://schemas.microsoft.com/office/drawing/2014/main" id="{CFFDE7E1-4A82-49EB-88EC-2AB6CF6C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066925"/>
            <a:ext cx="432816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赛题约束、框架复用、论文候选</a:t>
            </a:r>
          </a:p>
        </p:txBody>
      </p:sp>
      <p:sp>
        <p:nvSpPr>
          <p:cNvPr id="9" name="group-heading-1">
            <a:extLst xmlns:a="http://schemas.openxmlformats.org/drawingml/2006/main">
              <a:ext uri="{FF2B5EF4-FFF2-40B4-BE49-F238E27FC236}">
                <a16:creationId xmlns:a16="http://schemas.microsoft.com/office/drawing/2014/main" id="{89A68EB1-0FD0-4CB6-9159-D5515E7C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924175"/>
            <a:ext cx="432816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3B78C3"/>
                </a:solidFill>
                <a:latin typeface="SimSun"/>
                <a:ea typeface="SimSun"/>
                <a:cs typeface="SimSun"/>
              </a:rPr>
              <a:t>开发分工</a:t>
            </a:r>
          </a:p>
        </p:txBody>
      </p:sp>
      <p:sp>
        <p:nvSpPr>
          <p:cNvPr id="10" name="group-body-1">
            <a:extLst xmlns:a="http://schemas.openxmlformats.org/drawingml/2006/main">
              <a:ext uri="{FF2B5EF4-FFF2-40B4-BE49-F238E27FC236}">
                <a16:creationId xmlns:a16="http://schemas.microsoft.com/office/drawing/2014/main" id="{FEFC4C40-8B7D-4F37-AACF-D235E3F5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305175"/>
            <a:ext cx="432816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明确接口与验收条件</a:t>
            </a:r>
          </a:p>
          <a:p xmlns:a="http://schemas.openxmlformats.org/drawingml/2006/main">
            <a: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DSH</a:t>
            </a:r>
            <a:r>
              <a:rPr sz="16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实现，主线程集成验证</a:t>
            </a:r>
          </a:p>
        </p:txBody>
      </p:sp>
      <p:sp>
        <p:nvSpPr>
          <p:cNvPr id="11" name="group-heading-2">
            <a:extLst xmlns:a="http://schemas.openxmlformats.org/drawingml/2006/main">
              <a:ext uri="{FF2B5EF4-FFF2-40B4-BE49-F238E27FC236}">
                <a16:creationId xmlns:a16="http://schemas.microsoft.com/office/drawing/2014/main" id="{B983158E-EC85-4B8D-B85D-3D577A07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4162425"/>
            <a:ext cx="432816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B78C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3B78C3"/>
                </a:solidFill>
                <a:latin typeface="SimSun"/>
                <a:ea typeface="SimSun"/>
                <a:cs typeface="SimSun"/>
              </a:rPr>
              <a:t>迭代方法</a:t>
            </a:r>
          </a:p>
        </p:txBody>
      </p:sp>
      <p:sp>
        <p:nvSpPr>
          <p:cNvPr id="12" name="group-body-2">
            <a:extLst xmlns:a="http://schemas.openxmlformats.org/drawingml/2006/main">
              <a:ext uri="{FF2B5EF4-FFF2-40B4-BE49-F238E27FC236}">
                <a16:creationId xmlns:a16="http://schemas.microsoft.com/office/drawing/2014/main" id="{85670953-1744-4898-A7FE-3435F9AC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4543425"/>
            <a:ext cx="432816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轨迹定位、最小修改</a:t>
            </a:r>
          </a:p>
          <a:p xmlns:a="http://schemas.openxmlformats.org/drawingml/2006/main">
            <a:pPr algn="l">
              <a:defRPr sz="1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单变量比较、保留任务回归</a:t>
            </a:r>
          </a:p>
        </p:txBody>
      </p:sp>
      <p:sp>
        <p:nvSpPr>
          <p:cNvPr id="13" name="takeaway">
            <a:extLst xmlns:a="http://schemas.openxmlformats.org/drawingml/2006/main">
              <a:ext uri="{FF2B5EF4-FFF2-40B4-BE49-F238E27FC236}">
                <a16:creationId xmlns:a16="http://schemas.microsoft.com/office/drawing/2014/main" id="{D443949D-7B9C-4380-B523-259A3E44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15965"/>
            <a:ext cx="111861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7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7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7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7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7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7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7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7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7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7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先跑通，再补能力，通过实验确定最终配置</a:t>
            </a:r>
          </a:p>
        </p:txBody>
      </p:sp>
      <p:sp>
        <p:nvSpPr>
          <p:cNvPr id="1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A51A573-C8C0-4E82-B159-EE5A759C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0"/>
            <a:ext cx="11186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CFCFCF"/>
            </a:solidFill>
            <a:prstDash val="solid"/>
          </a:ln>
        </p:spPr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1B4221B3-198B-4D6E-8825-6F6FDE60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863"/>
            <a:ext cx="992124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7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勇攀高峰</a:t>
            </a:r>
            <a:r>
              <a:rPr sz="7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rPr>
              <a:t> · Web Agent </a:t>
            </a:r>
            <a:r>
              <a:rPr sz="700" b="0">
                <a:solidFill>
                  <a:srgbClr val="777777"/>
                </a:solidFill>
                <a:latin typeface="SimSun"/>
                <a:ea typeface="SimSun"/>
                <a:cs typeface="SimSun"/>
              </a:rPr>
              <a:t>系统设计</a:t>
            </a:r>
          </a:p>
        </p:txBody>
      </p:sp>
      <p:sp>
        <p:nvSpPr>
          <p:cNvPr id="1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5A9977D-9D12-41B7-A712-E8A5C894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7583" y="6474143"/>
            <a:ext cx="54864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10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10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10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10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10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10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10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10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10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r">
              <a:defRPr sz="10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777777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38116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2026-10-30T22:57:34.8130000Z</dcterms:created>
  <dcterms:modified xsi:type="dcterms:W3CDTF">2026-10-30T22:57:34.8140000Z</dcterms:modified>
</coreProperties>
</file>